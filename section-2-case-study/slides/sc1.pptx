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20" r:id="rId6"/>
    <p:sldId id="307" r:id="rId7"/>
    <p:sldId id="316" r:id="rId8"/>
    <p:sldId id="308" r:id="rId9"/>
    <p:sldId id="309" r:id="rId10"/>
    <p:sldId id="312" r:id="rId11"/>
    <p:sldId id="317" r:id="rId12"/>
    <p:sldId id="318" r:id="rId13"/>
    <p:sldId id="311" r:id="rId14"/>
  </p:sldIdLst>
  <p:sldSz cx="9144000" cy="5143500"/>
  <p:notesSz cx="6858000" cy="9144000"/>
  <p:embeddedFontLst>
    <p:embeddedFont>
      <p:font typeface="Fjalla One"/>
      <p:regular r:id="rId18"/>
    </p:embeddedFont>
    <p:embeddedFont>
      <p:font typeface="Barlow Semi Condensed Medium" panose="00000606000000000000"/>
      <p:regular r:id="rId19"/>
    </p:embeddedFont>
    <p:embeddedFont>
      <p:font typeface="Barlow Semi Condensed" panose="0000050600000000000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Cambria Math" panose="0204050305040603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B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33 - 38, 44 y old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33 - 38, 44 y old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33 - 38, 44 y old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33 - 38, 44 y old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 panose="00000506000000000000"/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50" name="Google Shape;550;p11"/>
          <p:cNvSpPr txBox="1"/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21" name="Google Shape;621;p11"/>
          <p:cNvSpPr txBox="1"/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54" name="Google Shape;754;p16"/>
          <p:cNvSpPr txBox="1"/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rPr>
              <a:t>CREDITS: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 This presentation template was created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2"/>
              </a:rPr>
              <a:t>Slidesgo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, including icons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3"/>
              </a:rPr>
              <a:t>Flaticon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, infographics &amp; images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4"/>
              </a:rPr>
              <a:t>Freepik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 and illustrations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5"/>
              </a:rPr>
              <a:t>Stories</a:t>
            </a:r>
            <a:endParaRPr>
              <a:solidFill>
                <a:schemeClr val="dk2"/>
              </a:solidFill>
              <a:latin typeface="Barlow Semi Condensed Medium" panose="00000606000000000000"/>
              <a:ea typeface="Barlow Semi Condensed Medium" panose="00000606000000000000"/>
              <a:cs typeface="Barlow Semi Condensed Medium" panose="00000606000000000000"/>
              <a:sym typeface="Barlow Semi Condensed Medium" panose="00000606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84" name="Google Shape;1084;p21"/>
          <p:cNvSpPr txBox="1"/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33" name="Google Shape;1133;p22"/>
          <p:cNvSpPr txBox="1"/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 panose="00000606000000000000"/>
              <a:buAutoNum type="arabicPeriod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618" name="Google Shape;1618;p31"/>
          <p:cNvSpPr txBox="1"/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2" Type="http://schemas.openxmlformats.org/officeDocument/2006/relationships/theme" Target="../theme/theme1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2.xml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hyperlink" Target="https://www.singstat.gov.sg/find-data/search-by-theme/population/geographic-distribution/latest-data" TargetMode="Externa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3.png"/><Relationship Id="rId3" Type="http://schemas.openxmlformats.org/officeDocument/2006/relationships/hyperlink" Target="https://www.singstat.gov.sg/find-data/search-by-theme/population/births-and-fertility/latest-data" TargetMode="External"/><Relationship Id="rId2" Type="http://schemas.openxmlformats.org/officeDocument/2006/relationships/tags" Target="../tags/tag3.xml"/><Relationship Id="rId1" Type="http://schemas.openxmlformats.org/officeDocument/2006/relationships/hyperlink" Target="https://github.com/linzi-sg/qs-case-study-data/blob/main/btomapping.csv" TargetMode="Externa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hyperlink" Target="https://data.gov.sg/datasets/d_8594ae9ff96d0c708bc2af633048edfb/view" TargetMode="External"/><Relationship Id="rId2" Type="http://schemas.openxmlformats.org/officeDocument/2006/relationships/hyperlink" Target="https://data.gov.sg/datasets/d_61eefab99958fd70e6aab17320a71f1c/view" TargetMode="Externa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/>
          <p:nvPr>
            <p:ph type="ctrTitle"/>
          </p:nvPr>
        </p:nvSpPr>
        <p:spPr>
          <a:xfrm>
            <a:off x="1082675" y="1708150"/>
            <a:ext cx="6978650" cy="9759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Preschools Resource Planning</a:t>
            </a:r>
            <a:endParaRPr lang="en-US" altLang="en-GB" sz="4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85" name="Google Shape;1885;p35"/>
          <p:cNvSpPr txBox="1"/>
          <p:nvPr>
            <p:ph type="subTitle" idx="1"/>
          </p:nvPr>
        </p:nvSpPr>
        <p:spPr>
          <a:xfrm>
            <a:off x="1818005" y="2684780"/>
            <a:ext cx="5507990" cy="895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Lim Kang Heng</a:t>
            </a:r>
            <a:endParaRPr lang="en-US" sz="20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Govtech Case Study - Section 2 (Scenario 1)</a:t>
            </a:r>
            <a:endParaRPr lang="en-US" sz="20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339090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Bottom Line Up Front 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Google Shape;1890;p36"/>
          <p:cNvSpPr txBox="1"/>
          <p:nvPr/>
        </p:nvSpPr>
        <p:spPr>
          <a:xfrm>
            <a:off x="663575" y="1419860"/>
            <a:ext cx="791083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Key Challenge: </a:t>
            </a:r>
            <a:endParaRPr lang="en-US" altLang="en-GB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Preschool demand and supply are unevenly distributed across subzones, leading to some preschools being oversubscribed and families have to face long waiting time.</a:t>
            </a:r>
            <a:endParaRPr lang="en-US" altLang="en-GB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Google Shape;1890;p36"/>
          <p:cNvSpPr txBox="1"/>
          <p:nvPr/>
        </p:nvSpPr>
        <p:spPr>
          <a:xfrm>
            <a:off x="683895" y="2283460"/>
            <a:ext cx="7890510" cy="10039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Key Approach: </a:t>
            </a:r>
            <a:endParaRPr lang="en-US" altLang="en-GB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Forecast demand from existing residents (population trends) and new households (BTO completions),  and match demand against current preschool supply.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Google Shape;1890;p36"/>
          <p:cNvSpPr txBox="1"/>
          <p:nvPr/>
        </p:nvSpPr>
        <p:spPr>
          <a:xfrm>
            <a:off x="663575" y="3147695"/>
            <a:ext cx="7890510" cy="9264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Key Findings: </a:t>
            </a:r>
            <a:endParaRPr lang="en-US" altLang="en-GB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Prioritse Expansion: Tampines North / West, Punggol–Seletar, Bukit Batok West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Consider Reallocation: Bedok / Marine Parade, Tampines East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059180"/>
            <a:ext cx="3655060" cy="2044700"/>
          </a:xfrm>
          <a:prstGeom prst="roundRect">
            <a:avLst>
              <a:gd name="adj" fmla="val 19042"/>
            </a:avLst>
          </a:prstGeom>
        </p:spPr>
      </p:pic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48323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Mismatch of Demand and Supply for Preschools at Various Subzones</a:t>
            </a: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86" name="Google Shape;3186;p55"/>
          <p:cNvSpPr txBox="1"/>
          <p:nvPr/>
        </p:nvSpPr>
        <p:spPr>
          <a:xfrm>
            <a:off x="821055" y="1779270"/>
            <a:ext cx="3373755" cy="7861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tx1">
                    <a:lumMod val="50000"/>
                  </a:schemeClr>
                </a:solidFill>
              </a:rPr>
              <a:t>20%</a:t>
            </a:r>
            <a:endParaRPr lang="en-US" sz="8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Google Shape;1890;p36"/>
          <p:cNvSpPr txBox="1"/>
          <p:nvPr/>
        </p:nvSpPr>
        <p:spPr>
          <a:xfrm>
            <a:off x="4284345" y="1989455"/>
            <a:ext cx="445389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of Singapore’s preschool capacity was unfilled.</a:t>
            </a:r>
            <a:endParaRPr lang="en-US" altLang="en-GB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Google Shape;1890;p36"/>
          <p:cNvSpPr txBox="1"/>
          <p:nvPr/>
        </p:nvSpPr>
        <p:spPr>
          <a:xfrm>
            <a:off x="827405" y="3220085"/>
            <a:ext cx="791083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However, familes in high-growth towns (e.g., Punggol) face long waiting times for enrolment → Highlighting that p</a:t>
            </a:r>
            <a:r>
              <a:rPr lang="en-US" altLang="en-US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re-school shortage is a </a:t>
            </a:r>
            <a:r>
              <a:rPr lang="en-US" altLang="en-US" sz="160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distribution problem</a:t>
            </a:r>
            <a:r>
              <a:rPr lang="en-US" altLang="en-US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not a capacity problem.</a:t>
            </a:r>
            <a:endParaRPr lang="en-US" alt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09" name="Google Shape;3009;p53"/>
          <p:cNvSpPr/>
          <p:nvPr/>
        </p:nvSpPr>
        <p:spPr>
          <a:xfrm>
            <a:off x="821055" y="4011295"/>
            <a:ext cx="7910830" cy="70294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This spatial mismatch motivates the need for a data-driven assessment to advise on the redistribution of preschool supply to better align capacity with local demand.</a:t>
            </a:r>
            <a:endParaRPr 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267970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Forecasting of Preschool Demand from Existing Families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Google Shape;1890;p36"/>
          <p:cNvSpPr txBox="1"/>
          <p:nvPr/>
        </p:nvSpPr>
        <p:spPr>
          <a:xfrm>
            <a:off x="611505" y="738505"/>
            <a:ext cx="7910830" cy="114871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Data: 2000 - 2025 Singapore Residents Population, Segregated by Planning Area (PA), Subzone (SZ) and Age (1 - 6 Years Old) (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hlinkClick r:id="rId1" action="ppaction://hlinkfile"/>
              </a:rPr>
              <a:t>Singstat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en-GB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Forecasting Method: Rolling Compound Annual Growth Rate (CAGR)</a:t>
            </a:r>
            <a:endParaRPr lang="en-US" alt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755650" y="2087245"/>
          <a:ext cx="4297680" cy="176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  <a:gridCol w="1835785"/>
                <a:gridCol w="1432560"/>
              </a:tblGrid>
              <a:tr h="391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Year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Actual Population*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CAGR (k = 2) [%]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2021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230</a:t>
                      </a:r>
                      <a:endParaRPr lang="en-US" sz="1200"/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ym typeface="+mn-ea"/>
                        </a:rPr>
                        <a:t>N.A.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2022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250</a:t>
                      </a:r>
                      <a:endParaRPr lang="en-US" sz="1200"/>
                    </a:p>
                  </a:txBody>
                  <a:tcPr anchor="ctr" anchorCtr="0"/>
                </a:tc>
                <a:tc vMerge="1">
                  <a:tcPr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2023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210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- 4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2024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180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- 15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2025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150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-15</a:t>
                      </a:r>
                      <a:endParaRPr 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215390" y="1774190"/>
            <a:ext cx="33788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Example (Ang Mo Kio Town Centre SZ)</a:t>
            </a:r>
            <a:endParaRPr lang="en-US" altLang="en-GB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55650" y="3856990"/>
            <a:ext cx="333311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None/>
            </a:pPr>
            <a:r>
              <a:rPr lang="en-US" sz="800">
                <a:solidFill>
                  <a:schemeClr val="tx1">
                    <a:lumMod val="50000"/>
                  </a:schemeClr>
                </a:solidFill>
                <a:sym typeface="+mn-ea"/>
              </a:rPr>
              <a:t>* Number of children aged between 1 - 6 years old</a:t>
            </a:r>
            <a:endParaRPr lang="en-US" sz="800">
              <a:solidFill>
                <a:schemeClr val="tx1">
                  <a:lumMod val="50000"/>
                </a:schemeClr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7"/>
              <p:cNvSpPr txBox="1"/>
              <p:nvPr/>
            </p:nvSpPr>
            <p:spPr>
              <a:xfrm>
                <a:off x="6516624" y="1302639"/>
                <a:ext cx="2170430" cy="49657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𝐶𝐴𝐺𝑅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𝐸𝑛𝑑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𝑆𝑡𝑎𝑟𝑡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624" y="1302639"/>
                <a:ext cx="2170430" cy="496570"/>
              </a:xfrm>
              <a:prstGeom prst="rect">
                <a:avLst/>
              </a:prstGeom>
              <a:blipFill rotWithShape="1">
                <a:blip r:embed="rId3"/>
                <a:stretch>
                  <a:fillRect l="-685" t="-2992" r="-632" b="-2762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890;p36"/>
          <p:cNvSpPr txBox="1"/>
          <p:nvPr/>
        </p:nvSpPr>
        <p:spPr>
          <a:xfrm>
            <a:off x="3204210" y="3903980"/>
            <a:ext cx="5543550" cy="35052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GB" sz="12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Interpretation:</a:t>
            </a:r>
            <a:r>
              <a:rPr lang="en-US" altLang="en-GB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Between 2023 &amp; 2021, the population has dropped by 4% each year</a:t>
            </a:r>
            <a:endParaRPr lang="en-US" altLang="en-GB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11" name="Table 10"/>
          <p:cNvGraphicFramePr/>
          <p:nvPr>
            <p:custDataLst>
              <p:tags r:id="rId4"/>
            </p:custDataLst>
          </p:nvPr>
        </p:nvGraphicFramePr>
        <p:xfrm>
          <a:off x="5226050" y="2087245"/>
          <a:ext cx="3568700" cy="175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215"/>
                <a:gridCol w="1467485"/>
              </a:tblGrid>
              <a:tr h="389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Predicted Population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Error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</a:tr>
              <a:tr h="81470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ym typeface="+mn-ea"/>
                        </a:rPr>
                        <a:t>N.A.</a:t>
                      </a:r>
                      <a:endParaRPr lang="en-US" sz="1200"/>
                    </a:p>
                  </a:txBody>
                  <a:tcPr anchor="ctr" anchorCtr="0"/>
                </a:tc>
                <a:tc hMerge="1"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201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21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153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Freeform 14"/>
          <p:cNvSpPr/>
          <p:nvPr/>
        </p:nvSpPr>
        <p:spPr>
          <a:xfrm>
            <a:off x="3408680" y="3169920"/>
            <a:ext cx="187960" cy="757555"/>
          </a:xfrm>
          <a:custGeom>
            <a:avLst/>
            <a:gdLst>
              <a:gd name="connisteX0" fmla="*/ 192170 w 192170"/>
              <a:gd name="connsiteY0" fmla="*/ 0 h 979805"/>
              <a:gd name="connisteX1" fmla="*/ 11195 w 192170"/>
              <a:gd name="connsiteY1" fmla="*/ 583565 h 979805"/>
              <a:gd name="connisteX2" fmla="*/ 32150 w 192170"/>
              <a:gd name="connsiteY2" fmla="*/ 979805 h 979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92170" h="979805">
                <a:moveTo>
                  <a:pt x="192170" y="0"/>
                </a:moveTo>
                <a:cubicBezTo>
                  <a:pt x="155340" y="108585"/>
                  <a:pt x="42945" y="387350"/>
                  <a:pt x="11195" y="583565"/>
                </a:cubicBezTo>
                <a:cubicBezTo>
                  <a:pt x="-20555" y="779780"/>
                  <a:pt x="24530" y="912495"/>
                  <a:pt x="32150" y="979805"/>
                </a:cubicBezTo>
              </a:path>
            </a:pathLst>
          </a:custGeom>
          <a:noFill/>
          <a:ln>
            <a:solidFill>
              <a:schemeClr val="accent2">
                <a:lumMod val="25000"/>
              </a:schemeClr>
            </a:solidFill>
            <a:headEnd type="none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999355" y="3138805"/>
            <a:ext cx="364490" cy="299085"/>
          </a:xfrm>
          <a:prstGeom prst="straightConnector1">
            <a:avLst/>
          </a:prstGeom>
          <a:noFill/>
          <a:ln>
            <a:solidFill>
              <a:schemeClr val="accent2">
                <a:lumMod val="25000"/>
              </a:schemeClr>
            </a:solidFill>
            <a:headEnd type="none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999355" y="3437890"/>
            <a:ext cx="364490" cy="299085"/>
          </a:xfrm>
          <a:prstGeom prst="straightConnector1">
            <a:avLst/>
          </a:prstGeom>
          <a:noFill/>
          <a:ln>
            <a:solidFill>
              <a:schemeClr val="accent2">
                <a:lumMod val="25000"/>
              </a:schemeClr>
            </a:solidFill>
            <a:headEnd type="none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9" name="Google Shape;3009;p53"/>
          <p:cNvSpPr/>
          <p:nvPr/>
        </p:nvSpPr>
        <p:spPr>
          <a:xfrm>
            <a:off x="755650" y="4299585"/>
            <a:ext cx="8038465" cy="65278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CAGR window (k) is selected via backtesting, and the optimal value is assessed to be 5 years for a 5-year prediction horizon. The average forecast error is 110 children. </a:t>
            </a:r>
            <a:endParaRPr 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162560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Forecasting of Preschool Demand from New Families (BTOs)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Google Shape;1890;p36"/>
          <p:cNvSpPr txBox="1"/>
          <p:nvPr/>
        </p:nvSpPr>
        <p:spPr>
          <a:xfrm>
            <a:off x="611505" y="555625"/>
            <a:ext cx="7910830" cy="464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Data: 2026 - 2030 BTO Completion Data (</a:t>
            </a: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hlinkClick r:id="rId1" action="ppaction://hlinkfile"/>
              </a:rPr>
              <a:t>Github</a:t>
            </a: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en-GB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1302385" y="1270000"/>
          <a:ext cx="61734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629"/>
                <a:gridCol w="1628953"/>
                <a:gridCol w="1917444"/>
                <a:gridCol w="1917444"/>
              </a:tblGrid>
              <a:tr h="391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Year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Number of Units Completed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Cumulated # Units Completed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Estimated Demand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2026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0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2027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0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2028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699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699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550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2029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2295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2994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2352</a:t>
                      </a:r>
                      <a:endParaRPr 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2030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0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2994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2353</a:t>
                      </a:r>
                      <a:endParaRPr 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2700020" y="956945"/>
            <a:ext cx="33788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Example (Yishun PA, Lower Seletar SZ)</a:t>
            </a:r>
            <a:endParaRPr lang="en-US" altLang="en-GB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9" name="Google Shape;1890;p36"/>
          <p:cNvSpPr txBox="1"/>
          <p:nvPr/>
        </p:nvSpPr>
        <p:spPr>
          <a:xfrm>
            <a:off x="755650" y="3199130"/>
            <a:ext cx="7910830" cy="18434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Key Assumptions: </a:t>
            </a:r>
            <a:endParaRPr lang="en-US" altLang="en-GB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Total Fertility Rate = 0.97 (</a:t>
            </a: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hlinkClick r:id="rId3" action="ppaction://hlinkfile"/>
              </a:rPr>
              <a:t>Singstat</a:t>
            </a: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) </a:t>
            </a: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Approx. one 0 - 6 year-old children per household </a:t>
            </a:r>
            <a:endParaRPr lang="en-US" altLang="en-GB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Take-up Rate for Pre-school = 0.90 (estimate)</a:t>
            </a:r>
            <a:endParaRPr lang="en-US" altLang="en-GB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GB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New Families Factor = 0.90 (estimate) (not all BTO occupants are new families)</a:t>
            </a:r>
            <a:endParaRPr lang="en-US" altLang="en-GB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Preschool demand from BTO households is cumulative over the 5-year analysis window, as children remain within the preschool-age cohort (&lt; 6 years) throughout this period</a:t>
            </a:r>
            <a:endParaRPr lang="en-US" alt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en-GB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endParaRPr lang="en-US" alt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Freeform 11"/>
          <p:cNvSpPr/>
          <p:nvPr/>
        </p:nvSpPr>
        <p:spPr>
          <a:xfrm flipV="1">
            <a:off x="5292090" y="3004185"/>
            <a:ext cx="553720" cy="194945"/>
          </a:xfrm>
          <a:custGeom>
            <a:avLst/>
            <a:gdLst>
              <a:gd name="connisteX0" fmla="*/ 0 w 297180"/>
              <a:gd name="connsiteY0" fmla="*/ 175377 h 175377"/>
              <a:gd name="connisteX1" fmla="*/ 129540 w 297180"/>
              <a:gd name="connsiteY1" fmla="*/ 117 h 175377"/>
              <a:gd name="connisteX2" fmla="*/ 297180 w 297180"/>
              <a:gd name="connsiteY2" fmla="*/ 152517 h 17537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97180" h="175378">
                <a:moveTo>
                  <a:pt x="0" y="175378"/>
                </a:moveTo>
                <a:cubicBezTo>
                  <a:pt x="22860" y="137278"/>
                  <a:pt x="69850" y="4563"/>
                  <a:pt x="129540" y="118"/>
                </a:cubicBezTo>
                <a:cubicBezTo>
                  <a:pt x="189230" y="-4327"/>
                  <a:pt x="266065" y="118228"/>
                  <a:pt x="297180" y="152518"/>
                </a:cubicBezTo>
              </a:path>
            </a:pathLst>
          </a:custGeom>
          <a:noFill/>
          <a:ln>
            <a:solidFill>
              <a:schemeClr val="accent2">
                <a:lumMod val="25000"/>
              </a:schemeClr>
            </a:solidFill>
            <a:headEnd type="none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SzTx/>
            </a:pPr>
            <a:endParaRPr lang="en-US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2"/>
              <p:cNvSpPr txBox="1"/>
              <p:nvPr/>
            </p:nvSpPr>
            <p:spPr>
              <a:xfrm>
                <a:off x="4987925" y="3220085"/>
                <a:ext cx="1161415" cy="2298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</m:oMath>
                </a14:m>
                <a:r>
                  <a:rPr lang="en-US" sz="900"/>
                  <a:t> 0.97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</m:oMath>
                </a14:m>
                <a:r>
                  <a:rPr lang="en-US" sz="900">
                    <a:sym typeface="+mn-ea"/>
                  </a:rPr>
                  <a:t> 0.9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</m:oMath>
                </a14:m>
                <a:r>
                  <a:rPr lang="en-US" sz="900">
                    <a:sym typeface="+mn-ea"/>
                  </a:rPr>
                  <a:t> 0.9</a:t>
                </a:r>
                <a:r>
                  <a:rPr lang="en-US" sz="900"/>
                  <a:t> </a:t>
                </a:r>
                <a:endParaRPr lang="en-US" sz="900"/>
              </a:p>
            </p:txBody>
          </p:sp>
        </mc:Choice>
        <mc:Fallback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925" y="3220085"/>
                <a:ext cx="1161415" cy="2298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403985"/>
            <a:ext cx="7910830" cy="3510915"/>
          </a:xfrm>
          <a:prstGeom prst="rect">
            <a:avLst/>
          </a:prstGeom>
        </p:spPr>
      </p:pic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26733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Preschool Capacity Supply 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Google Shape;1890;p36"/>
          <p:cNvSpPr txBox="1"/>
          <p:nvPr/>
        </p:nvSpPr>
        <p:spPr>
          <a:xfrm>
            <a:off x="611505" y="684530"/>
            <a:ext cx="7910830" cy="465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Data: 2024 Preschool Locations 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(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  <a:hlinkClick r:id="rId2" action="ppaction://hlinkfile"/>
              </a:rPr>
              <a:t>data.gov.sg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) 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and Subzone Boundaries 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(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  <a:hlinkClick r:id="rId3" action="ppaction://hlinkfile"/>
              </a:rPr>
              <a:t>data.gov.sg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)</a:t>
            </a: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GB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endParaRPr lang="en-US" alt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Google Shape;1890;p36"/>
          <p:cNvSpPr txBox="1"/>
          <p:nvPr/>
        </p:nvSpPr>
        <p:spPr>
          <a:xfrm>
            <a:off x="1115695" y="1007110"/>
            <a:ext cx="7910830" cy="465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GB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Post-processed Data: Number of preschools &amp; supply* within each SZ</a:t>
            </a:r>
            <a:endParaRPr lang="en-US" altLang="en-GB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endParaRPr lang="en-US" alt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2" name="Elbow Connector 1"/>
          <p:cNvCxnSpPr>
            <a:endCxn id="1" idx="1"/>
          </p:cNvCxnSpPr>
          <p:nvPr/>
        </p:nvCxnSpPr>
        <p:spPr>
          <a:xfrm>
            <a:off x="827405" y="1007110"/>
            <a:ext cx="288290" cy="233045"/>
          </a:xfrm>
          <a:prstGeom prst="bentConnector3">
            <a:avLst>
              <a:gd name="adj1" fmla="val -3083"/>
            </a:avLst>
          </a:prstGeom>
          <a:noFill/>
          <a:ln>
            <a:solidFill>
              <a:schemeClr val="accent2">
                <a:lumMod val="25000"/>
              </a:schemeClr>
            </a:solidFill>
            <a:headEnd type="none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4" name="Text Box 3"/>
          <p:cNvSpPr txBox="1"/>
          <p:nvPr/>
        </p:nvSpPr>
        <p:spPr>
          <a:xfrm>
            <a:off x="0" y="4929505"/>
            <a:ext cx="365442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None/>
            </a:pPr>
            <a:r>
              <a:rPr lang="en-US" sz="800">
                <a:solidFill>
                  <a:schemeClr val="tx1">
                    <a:lumMod val="50000"/>
                  </a:schemeClr>
                </a:solidFill>
                <a:sym typeface="+mn-ea"/>
              </a:rPr>
              <a:t>* This study asssumes that each preschool provides 100 supply / capacity</a:t>
            </a:r>
            <a:endParaRPr lang="en-US" sz="800">
              <a:solidFill>
                <a:schemeClr val="tx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13" name="Google Shape;1890;p36"/>
          <p:cNvSpPr txBox="1"/>
          <p:nvPr/>
        </p:nvSpPr>
        <p:spPr>
          <a:xfrm>
            <a:off x="755650" y="1442720"/>
            <a:ext cx="2536825" cy="3841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Preschool Supply Density by SZ 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4248150" y="1705610"/>
            <a:ext cx="264160" cy="423545"/>
          </a:xfrm>
          <a:custGeom>
            <a:avLst/>
            <a:gdLst>
              <a:gd name="connisteX0" fmla="*/ 0 w 264160"/>
              <a:gd name="connsiteY0" fmla="*/ 262255 h 262255"/>
              <a:gd name="connisteX1" fmla="*/ 173355 w 264160"/>
              <a:gd name="connsiteY1" fmla="*/ 0 h 262255"/>
              <a:gd name="connisteX2" fmla="*/ 264160 w 264160"/>
              <a:gd name="connsiteY2" fmla="*/ 0 h 2622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64160" h="262255">
                <a:moveTo>
                  <a:pt x="0" y="262255"/>
                </a:moveTo>
                <a:lnTo>
                  <a:pt x="173355" y="0"/>
                </a:lnTo>
                <a:lnTo>
                  <a:pt x="264160" y="0"/>
                </a:lnTo>
              </a:path>
            </a:pathLst>
          </a:custGeom>
          <a:noFill/>
          <a:ln w="9525"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Google Shape;1890;p36"/>
              <p:cNvSpPr txBox="1"/>
              <p:nvPr/>
            </p:nvSpPr>
            <p:spPr>
              <a:xfrm>
                <a:off x="4572000" y="1491615"/>
                <a:ext cx="2120900" cy="775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9pPr>
              </a:lstStyle>
              <a:p>
                <a:pPr marL="0" lvl="0" indent="0" algn="l" rtl="0" eaLnBrk="1" fontAlgn="auto" latinLnBrk="0" hangingPunct="1">
                  <a:spcBef>
                    <a:spcPts val="0"/>
                  </a:spcBef>
                  <a:buNone/>
                </a:pPr>
                <a:r>
                  <a:rPr lang="en-US" altLang="en-US" sz="1000" b="1">
                    <a:solidFill>
                      <a:schemeClr val="tx1">
                        <a:lumMod val="50000"/>
                      </a:schemeClr>
                    </a:solidFill>
                    <a:latin typeface="Calibri" panose="020F0502020204030204" charset="0"/>
                    <a:cs typeface="Calibri" panose="020F0502020204030204" charset="0"/>
                  </a:rPr>
                  <a:t>Mandai Estate (Dense)</a:t>
                </a:r>
                <a:endParaRPr lang="en-US" altLang="en-US" sz="1000" b="1">
                  <a:solidFill>
                    <a:schemeClr val="tx1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0" lvl="0" indent="0" algn="l" rtl="0" eaLnBrk="1" fontAlgn="auto" latinLnBrk="0" hangingPunct="1">
                  <a:spcBef>
                    <a:spcPts val="0"/>
                  </a:spcBef>
                  <a:buNone/>
                </a:pPr>
                <a:r>
                  <a:rPr lang="en-US" altLang="en-US" sz="1000">
                    <a:solidFill>
                      <a:schemeClr val="tx1">
                        <a:lumMod val="50000"/>
                      </a:schemeClr>
                    </a:solidFill>
                    <a:latin typeface="Calibri" panose="020F0502020204030204" charset="0"/>
                    <a:cs typeface="Calibri" panose="020F0502020204030204" charset="0"/>
                  </a:rPr>
                  <a:t>Num Preschools: 5</a:t>
                </a:r>
                <a:endParaRPr lang="en-US" altLang="en-US" sz="1000" b="1">
                  <a:solidFill>
                    <a:schemeClr val="tx1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0" lvl="0" indent="0" algn="l" rtl="0" eaLnBrk="1" fontAlgn="auto" latinLnBrk="0" hangingPunct="1">
                  <a:spcBef>
                    <a:spcPts val="0"/>
                  </a:spcBef>
                  <a:buNone/>
                </a:pPr>
                <a:r>
                  <a:rPr lang="en-US" altLang="en-US" sz="1000">
                    <a:solidFill>
                      <a:schemeClr val="tx1">
                        <a:lumMod val="50000"/>
                      </a:schemeClr>
                    </a:solidFill>
                    <a:latin typeface="Calibri" panose="020F0502020204030204" charset="0"/>
                    <a:cs typeface="Calibri" panose="020F0502020204030204" charset="0"/>
                  </a:rPr>
                  <a:t>Area: 0.143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km</m:t>
                        </m:r>
                      </m:e>
                      <m:sup>
                        <m: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1000">
                  <a:solidFill>
                    <a:schemeClr val="tx1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lvl="0" indent="0" algn="l" rtl="0" eaLnBrk="1" fontAlgn="auto" latinLnBrk="0" hangingPunct="1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altLang="en-US" sz="1000">
                    <a:solidFill>
                      <a:schemeClr val="tx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Supply Density: 3500 children/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km</m:t>
                        </m:r>
                      </m:e>
                      <m:sup>
                        <m: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1000">
                  <a:solidFill>
                    <a:schemeClr val="tx1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Google Shape;1890;p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491615"/>
                <a:ext cx="2120900" cy="77533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20"/>
          <p:cNvSpPr/>
          <p:nvPr/>
        </p:nvSpPr>
        <p:spPr>
          <a:xfrm flipV="1">
            <a:off x="4380230" y="4516120"/>
            <a:ext cx="264160" cy="90805"/>
          </a:xfrm>
          <a:custGeom>
            <a:avLst/>
            <a:gdLst>
              <a:gd name="connisteX0" fmla="*/ 0 w 264160"/>
              <a:gd name="connsiteY0" fmla="*/ 262255 h 262255"/>
              <a:gd name="connisteX1" fmla="*/ 173355 w 264160"/>
              <a:gd name="connsiteY1" fmla="*/ 0 h 262255"/>
              <a:gd name="connisteX2" fmla="*/ 264160 w 264160"/>
              <a:gd name="connsiteY2" fmla="*/ 0 h 2622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64160" h="262255">
                <a:moveTo>
                  <a:pt x="0" y="262255"/>
                </a:moveTo>
                <a:lnTo>
                  <a:pt x="173355" y="0"/>
                </a:lnTo>
                <a:lnTo>
                  <a:pt x="264160" y="0"/>
                </a:lnTo>
              </a:path>
            </a:pathLst>
          </a:custGeom>
          <a:noFill/>
          <a:ln w="9525">
            <a:solidFill>
              <a:schemeClr val="accent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Google Shape;1890;p36"/>
              <p:cNvSpPr txBox="1"/>
              <p:nvPr/>
            </p:nvSpPr>
            <p:spPr>
              <a:xfrm>
                <a:off x="4715510" y="4011930"/>
                <a:ext cx="2120900" cy="775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800"/>
                  <a:buFont typeface="Fjalla One"/>
                  <a:buNone/>
                  <a:defRPr sz="2800" b="0" i="0" u="none" strike="noStrike" cap="none">
                    <a:solidFill>
                      <a:schemeClr val="dk2"/>
                    </a:solidFill>
                    <a:latin typeface="Fjalla One"/>
                    <a:ea typeface="Fjalla One"/>
                    <a:cs typeface="Fjalla One"/>
                    <a:sym typeface="Fjalla One"/>
                  </a:defRPr>
                </a:lvl9pPr>
              </a:lstStyle>
              <a:p>
                <a:pPr marL="0" lvl="0" indent="0" algn="l" rtl="0" eaLnBrk="1" fontAlgn="auto" latinLnBrk="0" hangingPunct="1">
                  <a:spcBef>
                    <a:spcPts val="0"/>
                  </a:spcBef>
                  <a:buNone/>
                </a:pPr>
                <a:r>
                  <a:rPr lang="en-US" altLang="en-US" sz="1000" b="1">
                    <a:solidFill>
                      <a:schemeClr val="tx1">
                        <a:lumMod val="50000"/>
                      </a:schemeClr>
                    </a:solidFill>
                    <a:latin typeface="Calibri" panose="020F0502020204030204" charset="0"/>
                    <a:cs typeface="Calibri" panose="020F0502020204030204" charset="0"/>
                  </a:rPr>
                  <a:t>Sentosa (Sparse)</a:t>
                </a:r>
                <a:endParaRPr lang="en-US" altLang="en-US" sz="1000" b="1">
                  <a:solidFill>
                    <a:schemeClr val="tx1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0" lvl="0" indent="0" algn="l" rtl="0" eaLnBrk="1" fontAlgn="auto" latinLnBrk="0" hangingPunct="1">
                  <a:spcBef>
                    <a:spcPts val="0"/>
                  </a:spcBef>
                  <a:buNone/>
                </a:pPr>
                <a:r>
                  <a:rPr lang="en-US" altLang="en-US" sz="1000">
                    <a:solidFill>
                      <a:schemeClr val="tx1">
                        <a:lumMod val="50000"/>
                      </a:schemeClr>
                    </a:solidFill>
                    <a:latin typeface="Calibri" panose="020F0502020204030204" charset="0"/>
                    <a:cs typeface="Calibri" panose="020F0502020204030204" charset="0"/>
                  </a:rPr>
                  <a:t>Num Preschools: 4</a:t>
                </a:r>
                <a:endParaRPr lang="en-US" altLang="en-US" sz="1000" b="1">
                  <a:solidFill>
                    <a:schemeClr val="tx1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0" lvl="0" indent="0" algn="l" rtl="0" eaLnBrk="1" fontAlgn="auto" latinLnBrk="0" hangingPunct="1">
                  <a:spcBef>
                    <a:spcPts val="0"/>
                  </a:spcBef>
                  <a:buNone/>
                </a:pPr>
                <a:r>
                  <a:rPr lang="en-US" altLang="en-US" sz="1000">
                    <a:solidFill>
                      <a:schemeClr val="tx1">
                        <a:lumMod val="50000"/>
                      </a:schemeClr>
                    </a:solidFill>
                    <a:latin typeface="Calibri" panose="020F0502020204030204" charset="0"/>
                    <a:cs typeface="Calibri" panose="020F0502020204030204" charset="0"/>
                  </a:rPr>
                  <a:t>Area: 4.91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km</m:t>
                        </m:r>
                      </m:e>
                      <m:sup>
                        <m: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1000">
                  <a:solidFill>
                    <a:schemeClr val="tx1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lvl="0" indent="0" algn="l" rtl="0" eaLnBrk="1" fontAlgn="auto" latinLnBrk="0" hangingPunct="1"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altLang="en-US" sz="1000">
                    <a:solidFill>
                      <a:schemeClr val="tx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Supply Density: 81 children/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km</m:t>
                        </m:r>
                      </m:e>
                      <m:sup>
                        <m:r>
                          <a:rPr lang="en-US" altLang="en-US" sz="100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1000">
                  <a:solidFill>
                    <a:schemeClr val="tx1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Google Shape;1890;p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510" y="4011930"/>
                <a:ext cx="2120900" cy="77533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19494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Expected 2026 - 2030 (5-year) Demand vs. Existing Supply 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394970" y="1040130"/>
          <a:ext cx="7627620" cy="169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138"/>
                <a:gridCol w="1542035"/>
                <a:gridCol w="1364229"/>
                <a:gridCol w="1271094"/>
                <a:gridCol w="1271093"/>
                <a:gridCol w="1551031"/>
              </a:tblGrid>
              <a:tr h="396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Year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Demand 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(From Existing Families)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Demand 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(From New Familes)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Total Demand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Existing Supply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Supply Surplus</a:t>
                      </a:r>
                      <a:endParaRPr lang="en-US" sz="9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</a:tr>
              <a:tr h="259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2026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125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125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400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275</a:t>
                      </a:r>
                      <a:endParaRPr lang="en-US" sz="900"/>
                    </a:p>
                  </a:txBody>
                  <a:tcPr anchor="ctr" anchorCtr="0"/>
                </a:tc>
              </a:tr>
              <a:tr h="259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2027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113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113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400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287</a:t>
                      </a:r>
                      <a:endParaRPr lang="en-US" sz="900"/>
                    </a:p>
                  </a:txBody>
                  <a:tcPr anchor="ctr" anchorCtr="0"/>
                </a:tc>
              </a:tr>
              <a:tr h="259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2028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99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704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803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400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-402</a:t>
                      </a:r>
                      <a:endParaRPr lang="en-US" sz="900"/>
                    </a:p>
                  </a:txBody>
                  <a:tcPr anchor="ctr" anchorCtr="0"/>
                </a:tc>
              </a:tr>
              <a:tr h="259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2029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87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ym typeface="+mn-ea"/>
                        </a:rPr>
                        <a:t>704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791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400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-391</a:t>
                      </a:r>
                      <a:endParaRPr lang="en-US" sz="900"/>
                    </a:p>
                  </a:txBody>
                  <a:tcPr anchor="ctr" anchorCtr="0"/>
                </a:tc>
              </a:tr>
              <a:tr h="259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2030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77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ym typeface="+mn-ea"/>
                        </a:rPr>
                        <a:t>704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781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400</a:t>
                      </a:r>
                      <a:endParaRPr lang="en-US" sz="9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/>
                        <a:t>-381</a:t>
                      </a:r>
                      <a:endParaRPr lang="en-US" sz="9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394970" y="2715895"/>
            <a:ext cx="333311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None/>
            </a:pPr>
            <a:r>
              <a:rPr lang="en-US" sz="800">
                <a:solidFill>
                  <a:schemeClr val="tx1">
                    <a:lumMod val="50000"/>
                  </a:schemeClr>
                </a:solidFill>
                <a:sym typeface="+mn-ea"/>
              </a:rPr>
              <a:t>* Number of children aged between 1 - 6 years old</a:t>
            </a:r>
            <a:endParaRPr lang="en-US" sz="800">
              <a:solidFill>
                <a:schemeClr val="tx1">
                  <a:lumMod val="50000"/>
                </a:schemeClr>
              </a:solidFill>
              <a:sym typeface="+mn-ea"/>
            </a:endParaRPr>
          </a:p>
        </p:txBody>
      </p:sp>
      <p:graphicFrame>
        <p:nvGraphicFramePr>
          <p:cNvPr id="16" name="Table 15"/>
          <p:cNvGraphicFramePr/>
          <p:nvPr>
            <p:custDataLst>
              <p:tags r:id="rId2"/>
            </p:custDataLst>
          </p:nvPr>
        </p:nvGraphicFramePr>
        <p:xfrm>
          <a:off x="683895" y="3435350"/>
          <a:ext cx="4197985" cy="112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120"/>
                <a:gridCol w="1840865"/>
              </a:tblGrid>
              <a:tr h="2863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PA / SZ</a:t>
                      </a:r>
                      <a:endParaRPr lang="en-US" sz="11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Avg. Supply Shortfall</a:t>
                      </a:r>
                      <a:endParaRPr lang="en-US" sz="11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</a:tr>
              <a:tr h="3194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Tampines / Tampines North</a:t>
                      </a:r>
                      <a:endParaRPr lang="en-US" sz="11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8,900</a:t>
                      </a:r>
                      <a:endParaRPr lang="en-US" sz="1100"/>
                    </a:p>
                  </a:txBody>
                  <a:tcPr anchor="ctr" anchorCtr="0"/>
                </a:tc>
              </a:tr>
              <a:tr h="2603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Bukit Batok / Brickworks</a:t>
                      </a:r>
                      <a:endParaRPr lang="en-US" sz="11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3,900</a:t>
                      </a:r>
                      <a:endParaRPr lang="en-US" sz="1100"/>
                    </a:p>
                  </a:txBody>
                  <a:tcPr anchor="ctr" anchorCtr="0"/>
                </a:tc>
              </a:tr>
              <a:tr h="2609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Punggol / Northshore</a:t>
                      </a:r>
                      <a:endParaRPr lang="en-US" sz="11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3,700</a:t>
                      </a:r>
                      <a:endParaRPr lang="en-US" sz="1100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17" name="Table 16"/>
          <p:cNvGraphicFramePr/>
          <p:nvPr>
            <p:custDataLst>
              <p:tags r:id="rId3"/>
            </p:custDataLst>
          </p:nvPr>
        </p:nvGraphicFramePr>
        <p:xfrm>
          <a:off x="4966970" y="3442335"/>
          <a:ext cx="4006215" cy="112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40"/>
                <a:gridCol w="1730375"/>
              </a:tblGrid>
              <a:tr h="288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PA / SZ</a:t>
                      </a:r>
                      <a:endParaRPr lang="en-US" sz="11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Avg. Supply Surplus</a:t>
                      </a:r>
                      <a:endParaRPr lang="en-US" sz="11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 anchorCtr="0"/>
                </a:tc>
              </a:tr>
              <a:tr h="3105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Tampines / Tampines East</a:t>
                      </a:r>
                      <a:endParaRPr lang="en-US" sz="11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2,200</a:t>
                      </a:r>
                      <a:endParaRPr lang="en-US" sz="1100"/>
                    </a:p>
                  </a:txBody>
                  <a:tcPr anchor="ctr" anchorCtr="0"/>
                </a:tc>
              </a:tr>
              <a:tr h="259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Bedok / Frankel</a:t>
                      </a:r>
                      <a:endParaRPr lang="en-US" sz="11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2,000</a:t>
                      </a:r>
                      <a:endParaRPr lang="en-US" sz="1100"/>
                    </a:p>
                  </a:txBody>
                  <a:tcPr anchor="ctr" anchorCtr="0"/>
                </a:tc>
              </a:tr>
              <a:tr h="259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Marine Parade / Katong</a:t>
                      </a:r>
                      <a:endParaRPr lang="en-US" sz="11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100"/>
                        <a:t>1,800</a:t>
                      </a:r>
                      <a:endParaRPr lang="en-US" sz="11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Text Box 17"/>
          <p:cNvSpPr txBox="1"/>
          <p:nvPr/>
        </p:nvSpPr>
        <p:spPr>
          <a:xfrm>
            <a:off x="1690370" y="3166745"/>
            <a:ext cx="21844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Over-subscribed SZ</a:t>
            </a:r>
            <a:endParaRPr lang="en-US" altLang="en-GB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940425" y="3166745"/>
            <a:ext cx="21844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Under-subscribed SZ</a:t>
            </a:r>
            <a:endParaRPr lang="en-US" altLang="en-GB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4970" y="646430"/>
            <a:ext cx="72345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GB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Assess Preschool Supply Surplus / Shorfall for each SZ.  Example (Ang Mo Kio Town Centre SZ)</a:t>
            </a:r>
            <a:endParaRPr lang="en-US" altLang="en-GB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83895" y="2931795"/>
            <a:ext cx="53149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GB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Subsequently, extract Top-3 Over/Under-subscribed SZ:</a:t>
            </a:r>
            <a:endParaRPr lang="en-US" altLang="en-GB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0" y="4929505"/>
            <a:ext cx="956691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None/>
            </a:pPr>
            <a:r>
              <a:rPr lang="en-US" sz="800">
                <a:solidFill>
                  <a:schemeClr val="tx1">
                    <a:lumMod val="50000"/>
                  </a:schemeClr>
                </a:solidFill>
                <a:sym typeface="+mn-ea"/>
              </a:rPr>
              <a:t>** In this analysis, estate maturity is referenced from the relative median age between SZ as of 2025. </a:t>
            </a:r>
            <a:r>
              <a:rPr lang="en-US" altLang="en-US" sz="800">
                <a:solidFill>
                  <a:schemeClr val="tx1">
                    <a:lumMod val="50000"/>
                  </a:schemeClr>
                </a:solidFill>
                <a:sym typeface="+mn-ea"/>
              </a:rPr>
              <a:t>SZ below the 33rd percentile of median age are treated as non-mature, otherwise mature</a:t>
            </a:r>
            <a:endParaRPr lang="en-US" altLang="en-US" sz="800">
              <a:solidFill>
                <a:schemeClr val="tx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8" name="Right Brace 27"/>
          <p:cNvSpPr/>
          <p:nvPr/>
        </p:nvSpPr>
        <p:spPr>
          <a:xfrm rot="5400000">
            <a:off x="1814830" y="3491230"/>
            <a:ext cx="133985" cy="2338705"/>
          </a:xfrm>
          <a:prstGeom prst="rightBrace">
            <a:avLst/>
          </a:prstGeom>
          <a:noFill/>
          <a:ln>
            <a:solidFill>
              <a:schemeClr val="accent2">
                <a:lumMod val="25000"/>
              </a:schemeClr>
            </a:solidFill>
            <a:headEnd type="none"/>
            <a:tailEnd type="none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SzTx/>
            </a:pPr>
            <a:endParaRPr lang="en-US">
              <a:sym typeface="+mn-ea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789305" y="4692650"/>
            <a:ext cx="21844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Non-mature** Estates</a:t>
            </a:r>
            <a:endParaRPr lang="en-US" altLang="en-GB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2" name="Right Brace 31"/>
          <p:cNvSpPr/>
          <p:nvPr/>
        </p:nvSpPr>
        <p:spPr>
          <a:xfrm rot="5400000">
            <a:off x="6067425" y="3530600"/>
            <a:ext cx="135255" cy="2261235"/>
          </a:xfrm>
          <a:prstGeom prst="rightBrace">
            <a:avLst/>
          </a:prstGeom>
          <a:noFill/>
          <a:ln>
            <a:solidFill>
              <a:schemeClr val="accent2">
                <a:lumMod val="25000"/>
              </a:schemeClr>
            </a:solidFill>
            <a:headEnd type="none"/>
            <a:tailEnd type="none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SzTx/>
            </a:pPr>
            <a:endParaRPr lang="en-US"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5043170" y="4692650"/>
            <a:ext cx="21844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Mature** Estates</a:t>
            </a:r>
            <a:endParaRPr lang="en-US" altLang="en-GB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0" y="555625"/>
            <a:ext cx="6604368" cy="4442400"/>
          </a:xfrm>
          <a:prstGeom prst="rect">
            <a:avLst/>
          </a:prstGeom>
        </p:spPr>
      </p:pic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123190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Prioritization of Building Preschools (2026 - 2030) 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7810" y="1707515"/>
            <a:ext cx="1343660" cy="795020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4547235" y="1059180"/>
            <a:ext cx="864870" cy="5530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Punggol / Sengkang / Seletar</a:t>
            </a:r>
            <a:endParaRPr lang="en-US" sz="1000"/>
          </a:p>
        </p:txBody>
      </p:sp>
      <p:sp>
        <p:nvSpPr>
          <p:cNvPr id="39" name="Oval 38"/>
          <p:cNvSpPr/>
          <p:nvPr/>
        </p:nvSpPr>
        <p:spPr>
          <a:xfrm>
            <a:off x="5257165" y="2368550"/>
            <a:ext cx="521970" cy="647065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Text Box 39"/>
          <p:cNvSpPr txBox="1"/>
          <p:nvPr/>
        </p:nvSpPr>
        <p:spPr>
          <a:xfrm>
            <a:off x="5554980" y="1923415"/>
            <a:ext cx="1073785" cy="3987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Tampines North / West</a:t>
            </a:r>
            <a:endParaRPr lang="en-US" sz="1000"/>
          </a:p>
        </p:txBody>
      </p:sp>
      <p:sp>
        <p:nvSpPr>
          <p:cNvPr id="41" name="Oval 40"/>
          <p:cNvSpPr/>
          <p:nvPr/>
        </p:nvSpPr>
        <p:spPr>
          <a:xfrm>
            <a:off x="2915920" y="2502535"/>
            <a:ext cx="444500" cy="378460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2620010" y="1924050"/>
            <a:ext cx="1036320" cy="3987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Bukit Batok West</a:t>
            </a:r>
            <a:endParaRPr lang="en-US" sz="1000"/>
          </a:p>
        </p:txBody>
      </p:sp>
      <p:sp>
        <p:nvSpPr>
          <p:cNvPr id="43" name="Text Box 42"/>
          <p:cNvSpPr txBox="1"/>
          <p:nvPr/>
        </p:nvSpPr>
        <p:spPr>
          <a:xfrm>
            <a:off x="7596505" y="3867785"/>
            <a:ext cx="1082040" cy="245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Prioritization</a:t>
            </a:r>
            <a:endParaRPr lang="en-US" sz="1000"/>
          </a:p>
        </p:txBody>
      </p:sp>
      <p:sp>
        <p:nvSpPr>
          <p:cNvPr id="44" name="Text Box 43"/>
          <p:cNvSpPr txBox="1"/>
          <p:nvPr/>
        </p:nvSpPr>
        <p:spPr>
          <a:xfrm>
            <a:off x="7596505" y="1563370"/>
            <a:ext cx="1082040" cy="245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Reallocation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0" y="555625"/>
            <a:ext cx="6604368" cy="4442400"/>
          </a:xfrm>
          <a:prstGeom prst="rect">
            <a:avLst/>
          </a:prstGeom>
        </p:spPr>
      </p:pic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123190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Reallocation of Existing Preschools </a:t>
            </a: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(2026 - 2030) </a:t>
            </a: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7596505" y="3867785"/>
            <a:ext cx="1082040" cy="245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Prioritization</a:t>
            </a:r>
            <a:endParaRPr lang="en-US" sz="1000"/>
          </a:p>
        </p:txBody>
      </p:sp>
      <p:sp>
        <p:nvSpPr>
          <p:cNvPr id="44" name="Text Box 43"/>
          <p:cNvSpPr txBox="1"/>
          <p:nvPr/>
        </p:nvSpPr>
        <p:spPr>
          <a:xfrm>
            <a:off x="7596505" y="1563370"/>
            <a:ext cx="1082040" cy="245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Reallocation</a:t>
            </a:r>
            <a:endParaRPr lang="en-US" sz="1000"/>
          </a:p>
        </p:txBody>
      </p:sp>
      <p:sp>
        <p:nvSpPr>
          <p:cNvPr id="22" name="Oval 21"/>
          <p:cNvSpPr/>
          <p:nvPr/>
        </p:nvSpPr>
        <p:spPr>
          <a:xfrm rot="4380000">
            <a:off x="5111115" y="2672715"/>
            <a:ext cx="433705" cy="1112520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5724525" y="3363595"/>
            <a:ext cx="1105535" cy="3987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ctr"/>
            <a:r>
              <a:rPr lang="en-US" sz="1000"/>
              <a:t>Bedok / </a:t>
            </a:r>
            <a:br>
              <a:rPr lang="en-US" sz="1000"/>
            </a:br>
            <a:r>
              <a:rPr lang="en-US" sz="1000"/>
              <a:t>Marine Parade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s 14"/>
          <p:cNvSpPr/>
          <p:nvPr/>
        </p:nvSpPr>
        <p:spPr>
          <a:xfrm>
            <a:off x="4787900" y="761365"/>
            <a:ext cx="4156710" cy="4155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6045" y="2499360"/>
            <a:ext cx="3360420" cy="2260600"/>
          </a:xfrm>
          <a:prstGeom prst="rect">
            <a:avLst/>
          </a:prstGeom>
        </p:spPr>
      </p:pic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195580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Software Development Architecture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395605" y="2701925"/>
            <a:ext cx="4156710" cy="22142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Google Shape;1890;p36"/>
          <p:cNvSpPr txBox="1"/>
          <p:nvPr/>
        </p:nvSpPr>
        <p:spPr>
          <a:xfrm>
            <a:off x="509270" y="2804795"/>
            <a:ext cx="2864485" cy="3479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Analytics &amp; Processing Backend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395605" y="771525"/>
            <a:ext cx="4156075" cy="17100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Google Shape;1890;p36"/>
          <p:cNvSpPr txBox="1"/>
          <p:nvPr/>
        </p:nvSpPr>
        <p:spPr>
          <a:xfrm>
            <a:off x="466725" y="761365"/>
            <a:ext cx="1333500" cy="3479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Data Layer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Google Shape;1890;p36"/>
          <p:cNvSpPr txBox="1"/>
          <p:nvPr/>
        </p:nvSpPr>
        <p:spPr>
          <a:xfrm>
            <a:off x="1691005" y="1171575"/>
            <a:ext cx="2908935" cy="10833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Population Statistics (DOS)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BTO Project Information (HDB)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Preschool Location &amp; Capacity (ECDA)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Subzone Boundaries (URA)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Model Parameters &amp; CONFIG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509270" y="1171575"/>
            <a:ext cx="1160780" cy="1160780"/>
          </a:xfrm>
          <a:prstGeom prst="rect">
            <a:avLst/>
          </a:prstGeom>
        </p:spPr>
      </p:pic>
      <p:pic>
        <p:nvPicPr>
          <p:cNvPr id="13" name="Picture 12" descr="Flask-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190" t="8285" r="20679" b="8942"/>
          <a:stretch>
            <a:fillRect/>
          </a:stretch>
        </p:blipFill>
        <p:spPr>
          <a:xfrm>
            <a:off x="467360" y="3291840"/>
            <a:ext cx="1449705" cy="1233805"/>
          </a:xfrm>
          <a:prstGeom prst="rect">
            <a:avLst/>
          </a:prstGeom>
        </p:spPr>
      </p:pic>
      <p:sp>
        <p:nvSpPr>
          <p:cNvPr id="14" name="Google Shape;1890;p36"/>
          <p:cNvSpPr txBox="1"/>
          <p:nvPr/>
        </p:nvSpPr>
        <p:spPr>
          <a:xfrm>
            <a:off x="1763395" y="3276600"/>
            <a:ext cx="2762250" cy="10833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Data Preprocessing 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Demand Forecasting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BTO-driven Demand Estimation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Model Evaluation &amp; Recalibration - </a:t>
            </a:r>
            <a:r>
              <a:rPr lang="en-US" altLang="en-US" sz="10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Triggered upon updates in population statistics or BTO pipelines</a:t>
            </a:r>
            <a:endParaRPr lang="en-US" altLang="en-US" sz="10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Google Shape;1890;p36"/>
          <p:cNvSpPr txBox="1"/>
          <p:nvPr/>
        </p:nvSpPr>
        <p:spPr>
          <a:xfrm>
            <a:off x="4932045" y="794385"/>
            <a:ext cx="2907030" cy="3479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Decision-Support Frontend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9" name="Picture 18" descr="React_Logo_SVG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1275715"/>
            <a:ext cx="1179830" cy="1090295"/>
          </a:xfrm>
          <a:prstGeom prst="rect">
            <a:avLst/>
          </a:prstGeom>
        </p:spPr>
      </p:pic>
      <p:sp>
        <p:nvSpPr>
          <p:cNvPr id="20" name="Google Shape;1890;p36"/>
          <p:cNvSpPr txBox="1"/>
          <p:nvPr/>
        </p:nvSpPr>
        <p:spPr>
          <a:xfrm>
            <a:off x="6228080" y="1376045"/>
            <a:ext cx="2621915" cy="814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Subzone Heatmaps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Time Slider (Forecast Horizon)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Summary Data Tables &amp; Rankings</a:t>
            </a:r>
            <a:endParaRPr lang="en-US" altLang="en-US" sz="1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21" name="Straight Arrow Connector 20"/>
          <p:cNvCxnSpPr>
            <a:stCxn id="8" idx="2"/>
            <a:endCxn id="5" idx="0"/>
          </p:cNvCxnSpPr>
          <p:nvPr/>
        </p:nvCxnSpPr>
        <p:spPr>
          <a:xfrm>
            <a:off x="2473960" y="2481580"/>
            <a:ext cx="0" cy="220345"/>
          </a:xfrm>
          <a:prstGeom prst="straightConnector1">
            <a:avLst/>
          </a:prstGeom>
          <a:ln w="6350">
            <a:solidFill>
              <a:srgbClr val="0070C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14" idx="3"/>
            <a:endCxn id="15" idx="1"/>
          </p:cNvCxnSpPr>
          <p:nvPr/>
        </p:nvCxnSpPr>
        <p:spPr>
          <a:xfrm flipV="1">
            <a:off x="4525645" y="2839085"/>
            <a:ext cx="262255" cy="979170"/>
          </a:xfrm>
          <a:prstGeom prst="bentConnector3">
            <a:avLst>
              <a:gd name="adj1" fmla="val 50121"/>
            </a:avLst>
          </a:prstGeom>
          <a:ln w="6350">
            <a:solidFill>
              <a:srgbClr val="0070C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26733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Limitations &amp; Future Considerations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Google Shape;1890;p36"/>
          <p:cNvSpPr txBox="1"/>
          <p:nvPr/>
        </p:nvSpPr>
        <p:spPr>
          <a:xfrm>
            <a:off x="800100" y="771525"/>
            <a:ext cx="7544435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1. Spatial Accessibility within Subzones </a:t>
            </a:r>
            <a:endParaRPr lang="en-US" altLang="en-GB" sz="15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Preschools may be unevenly distributed within a subzone, resulting in longer travel distances for some households.</a:t>
            </a: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2. Non-spatial Enrolment Considerations</a:t>
            </a:r>
            <a:endParaRPr lang="en-US" altLang="en-US" sz="15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Religious affiliation, pedagogical preferences, and affordability may limit effective access to nearby preschools.</a:t>
            </a: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3. Cross-subzone Enrolment Behaviour</a:t>
            </a:r>
            <a:endParaRPr lang="en-US" altLang="en-US" sz="15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en-US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Families may enrol children in preschools outside their residential subzone.</a:t>
            </a: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4. Simplified BTO move-in Assumptions</a:t>
            </a:r>
            <a:endParaRPr lang="en-US" altLang="en-US" sz="15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Household occupancy and child enrolment may occur gradually rather than immediately upon project completion.</a:t>
            </a: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09" name="Google Shape;3009;p53"/>
          <p:cNvSpPr/>
          <p:nvPr/>
        </p:nvSpPr>
        <p:spPr>
          <a:xfrm>
            <a:off x="800100" y="4084320"/>
            <a:ext cx="7910830" cy="80772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Overall, this study demonstrates how integrating demographic trends, housing pipelines, and spatial data can support more targeted and efficient preschool infrastructure planning.</a:t>
            </a:r>
            <a:endParaRPr lang="en-US" altLang="en-US" sz="16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38*123"/>
  <p:tag name="TABLE_ENDDRAG_RECT" val="59*219*338*123"/>
</p:tagLst>
</file>

<file path=ppt/tags/tag2.xml><?xml version="1.0" encoding="utf-8"?>
<p:tagLst xmlns:p="http://schemas.openxmlformats.org/presentationml/2006/main">
  <p:tag name="TABLE_ENDDRAG_ORIGIN_RECT" val="281*137"/>
  <p:tag name="TABLE_ENDDRAG_RECT" val="411*203*281*137"/>
</p:tagLst>
</file>

<file path=ppt/tags/tag3.xml><?xml version="1.0" encoding="utf-8"?>
<p:tagLst xmlns:p="http://schemas.openxmlformats.org/presentationml/2006/main">
  <p:tag name="TABLE_ENDDRAG_ORIGIN_RECT" val="338*123"/>
  <p:tag name="TABLE_ENDDRAG_RECT" val="59*219*338*123"/>
</p:tagLst>
</file>

<file path=ppt/tags/tag4.xml><?xml version="1.0" encoding="utf-8"?>
<p:tagLst xmlns:p="http://schemas.openxmlformats.org/presentationml/2006/main">
  <p:tag name="TABLE_ENDDRAG_ORIGIN_RECT" val="623*143"/>
  <p:tag name="TABLE_ENDDRAG_RECT" val="59*89*623*143"/>
</p:tagLst>
</file>

<file path=ppt/tags/tag5.xml><?xml version="1.0" encoding="utf-8"?>
<p:tagLst xmlns:p="http://schemas.openxmlformats.org/presentationml/2006/main">
  <p:tag name="TABLE_ENDDRAG_ORIGIN_RECT" val="330*88"/>
  <p:tag name="TABLE_ENDDRAG_RECT" val="59*281*330*88"/>
</p:tagLst>
</file>

<file path=ppt/tags/tag6.xml><?xml version="1.0" encoding="utf-8"?>
<p:tagLst xmlns:p="http://schemas.openxmlformats.org/presentationml/2006/main">
  <p:tag name="TABLE_ENDDRAG_ORIGIN_RECT" val="315*88"/>
  <p:tag name="TABLE_ENDDRAG_RECT" val="396*282*315*88"/>
</p:tagLst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5380</Words>
  <Application>WPS Presentation</Application>
  <PresentationFormat/>
  <Paragraphs>361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Arial</vt:lpstr>
      <vt:lpstr>Fjalla One</vt:lpstr>
      <vt:lpstr>Barlow Semi Condensed Medium</vt:lpstr>
      <vt:lpstr>Barlow Semi Condensed</vt:lpstr>
      <vt:lpstr>Roboto Condensed Light</vt:lpstr>
      <vt:lpstr>Roboto</vt:lpstr>
      <vt:lpstr>Calibri</vt:lpstr>
      <vt:lpstr>Cambria Math</vt:lpstr>
      <vt:lpstr>Microsoft YaHei</vt:lpstr>
      <vt:lpstr>Arial Unicode MS</vt:lpstr>
      <vt:lpstr>Technology Consulting by Slidesgo</vt:lpstr>
      <vt:lpstr>Preschools Resource Planning</vt:lpstr>
      <vt:lpstr>Bottom Line Up Front </vt:lpstr>
      <vt:lpstr>Mismatch of Demand and Supply for Preschools at Various Subzones </vt:lpstr>
      <vt:lpstr>Forecasting of Preschool Demand from Existing Families</vt:lpstr>
      <vt:lpstr>Forecasting of Preschool Demand from New Families (BTOs)</vt:lpstr>
      <vt:lpstr>Preschool Capacity Supply </vt:lpstr>
      <vt:lpstr>Expected 2026 - 2030 (5-year) Demand vs. Existing Supply </vt:lpstr>
      <vt:lpstr>Prioritization of Building Preschools (2026 - 2030) </vt:lpstr>
      <vt:lpstr>Reallocation of Existing Preschools (2026 - 2030)  </vt:lpstr>
      <vt:lpstr>Software Development Architecture</vt:lpstr>
      <vt:lpstr>Study Limitations &amp; Future Considerations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Preschools Supply Planning</dc:title>
  <dc:creator/>
  <cp:lastModifiedBy>Darren Lim</cp:lastModifiedBy>
  <cp:revision>55</cp:revision>
  <dcterms:created xsi:type="dcterms:W3CDTF">2026-01-10T05:38:00Z</dcterms:created>
  <dcterms:modified xsi:type="dcterms:W3CDTF">2026-01-11T08:00:12Z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642E6EE966344ECA9EE9D6E502FB8F8D_12</vt:lpwstr>
  </property>
  <property fmtid="{D5CDD505-2E9C-101B-9397-08002B2CF9AE}" pid="3" name="KSOProductBuildVer">
    <vt:lpwstr>1033-12.2.0.23196</vt:lpwstr>
  </property>
</Properties>
</file>