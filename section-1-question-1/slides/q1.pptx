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320" r:id="rId5"/>
    <p:sldId id="322" r:id="rId6"/>
    <p:sldId id="321" r:id="rId7"/>
    <p:sldId id="324" r:id="rId8"/>
    <p:sldId id="325" r:id="rId9"/>
  </p:sldIdLst>
  <p:sldSz cx="9144000" cy="5143500"/>
  <p:notesSz cx="6858000" cy="9144000"/>
  <p:embeddedFontLst>
    <p:embeddedFont>
      <p:font typeface="Fjalla One"/>
      <p:regular r:id="rId14"/>
    </p:embeddedFont>
    <p:embeddedFont>
      <p:font typeface="Barlow Semi Condensed Medium" panose="00000606000000000000"/>
      <p:regular r:id="rId15"/>
    </p:embeddedFont>
    <p:embeddedFont>
      <p:font typeface="Barlow Semi Condensed" panose="00000506000000000000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B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 panose="00000606000000000000"/>
              <a:buNone/>
              <a:defRPr sz="2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 panose="00000606000000000000"/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●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○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 panose="00000506000000000000"/>
              <a:buChar char="■"/>
              <a:defRPr>
                <a:solidFill>
                  <a:schemeClr val="accent5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 panose="00000506000000000000"/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50" name="Google Shape;550;p11"/>
          <p:cNvSpPr txBox="1"/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21" name="Google Shape;621;p11"/>
          <p:cNvSpPr txBox="1"/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4" name="Google Shape;754;p16"/>
          <p:cNvSpPr txBox="1"/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rPr>
              <a:t>CREDITS: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This presentation template was created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2"/>
              </a:rPr>
              <a:t>Slidesgo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including icons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3"/>
              </a:rPr>
              <a:t>Flaticon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, infographics &amp; images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4"/>
              </a:rPr>
              <a:t>Freepik</a:t>
            </a:r>
            <a:r>
              <a:rPr lang="en-GB" sz="11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rPr>
              <a:t> and illustrations by </a:t>
            </a:r>
            <a:r>
              <a:rPr lang="en-GB" sz="1100">
                <a:solidFill>
                  <a:schemeClr val="accent1"/>
                </a:solidFill>
                <a:uFill>
                  <a:noFill/>
                </a:u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  <a:hlinkClick r:id="rId5"/>
              </a:rPr>
              <a:t>Stories</a:t>
            </a:r>
            <a:endParaRPr>
              <a:solidFill>
                <a:schemeClr val="dk2"/>
              </a:solidFill>
              <a:latin typeface="Barlow Semi Condensed Medium" panose="00000606000000000000"/>
              <a:ea typeface="Barlow Semi Condensed Medium" panose="00000606000000000000"/>
              <a:cs typeface="Barlow Semi Condensed Medium" panose="00000606000000000000"/>
              <a:sym typeface="Barlow Semi Condensed Medium" panose="00000606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 panose="00000506000000000000"/>
              <a:ea typeface="Barlow Semi Condensed" panose="00000506000000000000"/>
              <a:cs typeface="Barlow Semi Condensed" panose="00000506000000000000"/>
              <a:sym typeface="Barlow Semi Condensed" panose="00000506000000000000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084" name="Google Shape;1084;p21"/>
          <p:cNvSpPr txBox="1"/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33" name="Google Shape;1133;p22"/>
          <p:cNvSpPr txBox="1"/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 panose="00000606000000000000"/>
                <a:ea typeface="Barlow Semi Condensed Medium" panose="00000606000000000000"/>
                <a:cs typeface="Barlow Semi Condensed Medium" panose="00000606000000000000"/>
                <a:sym typeface="Barlow Semi Condensed Medium" panose="00000606000000000000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 panose="00000606000000000000"/>
              <a:buAutoNum type="arabicPeriod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618" name="Google Shape;1618;p31"/>
          <p:cNvSpPr txBox="1"/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 panose="00000506000000000000"/>
                <a:ea typeface="Barlow Semi Condensed" panose="00000506000000000000"/>
                <a:cs typeface="Barlow Semi Condensed" panose="00000506000000000000"/>
                <a:sym typeface="Barlow Semi Condensed" panose="00000506000000000000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hyperlink" Target="https://www.homeanddecor.com.sg/property/hdb-prices-in-2021-up-or-down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1082675" y="1708150"/>
            <a:ext cx="6978650" cy="975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Effect of HDB Resale Portal on Agents</a:t>
            </a:r>
            <a:endParaRPr lang="en-US" altLang="en-GB" sz="32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85" name="Google Shape;1885;p35"/>
          <p:cNvSpPr txBox="1"/>
          <p:nvPr>
            <p:ph type="subTitle" idx="1"/>
          </p:nvPr>
        </p:nvSpPr>
        <p:spPr>
          <a:xfrm>
            <a:off x="1818005" y="2684780"/>
            <a:ext cx="5507990" cy="895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Lim Kang Heng</a:t>
            </a:r>
            <a:endParaRPr lang="en-US" sz="18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Govtech Case Study - Section 1 (Question 1)</a:t>
            </a:r>
            <a:endParaRPr lang="en-US" sz="18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33972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Bottom Line Up Front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Google Shape;1890;p36"/>
          <p:cNvSpPr txBox="1"/>
          <p:nvPr/>
        </p:nvSpPr>
        <p:spPr>
          <a:xfrm>
            <a:off x="683895" y="843915"/>
            <a:ext cx="7703820" cy="9194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Context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The HDB Resale Portal was launched in Jan 2018 to streamline resale flat transactions between buyers and sellers 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How has the role of property agents changed since its’ inception?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890;p36"/>
          <p:cNvSpPr txBox="1"/>
          <p:nvPr/>
        </p:nvSpPr>
        <p:spPr>
          <a:xfrm>
            <a:off x="683895" y="1759585"/>
            <a:ext cx="7910830" cy="11442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Investigation: </a:t>
            </a:r>
            <a:r>
              <a:rPr lang="en-US" altLang="en-GB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Effects on resale buyer-side and seller-side agents</a:t>
            </a:r>
            <a:endParaRPr lang="en-US" altLang="en-GB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Hypothesis: </a:t>
            </a:r>
            <a:r>
              <a:rPr lang="en-US" altLang="en-GB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As the resale portal can simplify a buyer’s journey (e.g., flat search, eligibility checks), buyers may be more willing to transact without an agent. While sellers may continue to rely on agents for pricing, marketing and negotiation 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→ </a:t>
            </a: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Hypothesise relatively larger decline in buy-side transactions</a:t>
            </a:r>
            <a:endParaRPr lang="en-US" altLang="en-GB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GB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Google Shape;1890;p36"/>
          <p:cNvSpPr txBox="1"/>
          <p:nvPr/>
        </p:nvSpPr>
        <p:spPr>
          <a:xfrm>
            <a:off x="683895" y="2900045"/>
            <a:ext cx="7703820" cy="3975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Approach: Difference-in-Differences (DID) </a:t>
            </a:r>
            <a:endParaRPr lang="en-US" altLang="en-US" sz="1400" b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1890;p36"/>
          <p:cNvSpPr txBox="1"/>
          <p:nvPr/>
        </p:nvSpPr>
        <p:spPr>
          <a:xfrm>
            <a:off x="683895" y="3293745"/>
            <a:ext cx="7890510" cy="165354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4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Key Findings: </a:t>
            </a:r>
            <a:endParaRPr lang="en-US" altLang="en-GB" sz="14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Causal Impact: DID estimates show that the HDB resale portal led to significant decline in buy-side agent activities, handling fewer cases on average after 2018. 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 eaLnBrk="1" fontAlgn="auto" latinLnBrk="0" hangingPunct="1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Market Adaptation: While buy-side activity initially declined, the share of 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buy-side </a:t>
            </a:r>
            <a:r>
              <a:rPr lang="en-US" altLang="en-US" sz="14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agent activities partially recovered after 2020, suggesting that agents adapted their roles and value propositions amid a strong resale market recovery.</a:t>
            </a:r>
            <a:endParaRPr lang="en-US" altLang="en-US" sz="14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/>
          <p:nvPr>
            <p:ph type="title"/>
          </p:nvPr>
        </p:nvSpPr>
        <p:spPr>
          <a:xfrm>
            <a:off x="611505" y="123825"/>
            <a:ext cx="6899910" cy="575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Impact of HDB Resale Portal on Buy Vs. Sell-side Transactions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3895" y="3075940"/>
            <a:ext cx="5011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2. Formulate an ordinary least squares (OLS) equation: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410335" y="3289935"/>
            <a:ext cx="6323330" cy="1637665"/>
            <a:chOff x="2324" y="1843"/>
            <a:chExt cx="9958" cy="25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 Box 4"/>
                <p:cNvSpPr txBox="1"/>
                <p:nvPr/>
              </p:nvSpPr>
              <p:spPr>
                <a:xfrm>
                  <a:off x="2324" y="2914"/>
                  <a:ext cx="9959" cy="57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𝑇𝑟𝑎𝑛𝑠𝑎𝑐𝑡𝑖𝑜𝑛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𝐶𝑜𝑢𝑛𝑡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~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𝑃𝑜𝑠𝑡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𝐵𝑢𝑦𝑒𝑟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𝑃𝑜𝑠𝑡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𝐵𝑢𝑦𝑒𝑟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𝑀𝑜𝑛𝑡ℎ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𝑇𝑖𝑚𝑒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+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𝐼𝑛𝑡𝑒𝑟𝑐𝑒𝑝𝑡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5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4" y="2914"/>
                  <a:ext cx="9959" cy="57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 Box 8"/>
            <p:cNvSpPr txBox="1"/>
            <p:nvPr/>
          </p:nvSpPr>
          <p:spPr>
            <a:xfrm>
              <a:off x="3571" y="3698"/>
              <a:ext cx="303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>
                  <a:latin typeface="Calibri" panose="020F0502020204030204" charset="0"/>
                  <a:cs typeface="Calibri" panose="020F0502020204030204" charset="0"/>
                </a:rPr>
                <a:t>Signal for before / after launch of HDB resale portal</a:t>
              </a:r>
              <a:endParaRPr lang="en-US" sz="1200">
                <a:latin typeface="Calibri" panose="020F0502020204030204" charset="0"/>
                <a:cs typeface="Calibri" panose="020F0502020204030204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5085" y="3383"/>
              <a:ext cx="8" cy="325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Text Box 10"/>
            <p:cNvSpPr txBox="1"/>
            <p:nvPr/>
          </p:nvSpPr>
          <p:spPr>
            <a:xfrm>
              <a:off x="3960" y="2121"/>
              <a:ext cx="443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>
                  <a:latin typeface="Calibri" panose="020F0502020204030204" charset="0"/>
                  <a:cs typeface="Calibri" panose="020F0502020204030204" charset="0"/>
                </a:rPr>
                <a:t>Signal for Buyer / Seller Transactions</a:t>
              </a:r>
              <a:endParaRPr lang="en-US" sz="1200">
                <a:latin typeface="Calibri" panose="020F0502020204030204" charset="0"/>
                <a:cs typeface="Calibri" panose="020F0502020204030204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6179" y="2575"/>
              <a:ext cx="0" cy="340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7802" y="3383"/>
              <a:ext cx="8" cy="325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Text Box 14"/>
            <p:cNvSpPr txBox="1"/>
            <p:nvPr/>
          </p:nvSpPr>
          <p:spPr>
            <a:xfrm>
              <a:off x="6633" y="3698"/>
              <a:ext cx="390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200">
                  <a:solidFill>
                    <a:srgbClr val="C00000"/>
                  </a:solidFill>
                  <a:latin typeface="Calibri" panose="020F0502020204030204" charset="0"/>
                  <a:cs typeface="Calibri" panose="020F0502020204030204" charset="0"/>
                </a:rPr>
                <a:t>Measures impact of the HDB resale portal on buyer-side agents</a:t>
              </a:r>
              <a:endParaRPr lang="en-US" sz="120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Right Brace 15"/>
            <p:cNvSpPr/>
            <p:nvPr/>
          </p:nvSpPr>
          <p:spPr>
            <a:xfrm rot="16200000">
              <a:off x="9838" y="1886"/>
              <a:ext cx="146" cy="1795"/>
            </a:xfrm>
            <a:prstGeom prst="rightBrac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8560" y="1843"/>
              <a:ext cx="268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SzTx/>
              </a:pPr>
              <a:r>
                <a:rPr lang="en-US" sz="1200">
                  <a:latin typeface="Calibri" panose="020F0502020204030204" charset="0"/>
                  <a:cs typeface="Calibri" panose="020F0502020204030204" charset="0"/>
                  <a:sym typeface="+mn-ea"/>
                </a:rPr>
                <a:t>Control for Seasonalty &amp; Time Trends</a:t>
              </a:r>
              <a:endParaRPr lang="en-US" sz="1200">
                <a:latin typeface="Calibri" panose="020F0502020204030204" charset="0"/>
                <a:cs typeface="Calibri" panose="020F0502020204030204" charset="0"/>
                <a:sym typeface="+mn-ea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810895" y="627380"/>
            <a:ext cx="5011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1. Visualise Number of Buyer &amp; Sell-side Transactions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607695" y="1035685"/>
            <a:ext cx="8141335" cy="1938655"/>
            <a:chOff x="1277" y="1578"/>
            <a:chExt cx="12821" cy="3053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7" y="1578"/>
              <a:ext cx="7744" cy="3053"/>
            </a:xfrm>
            <a:prstGeom prst="rect">
              <a:avLst/>
            </a:prstGeom>
          </p:spPr>
        </p:pic>
        <p:sp>
          <p:nvSpPr>
            <p:cNvPr id="23" name="Text Box 22"/>
            <p:cNvSpPr txBox="1"/>
            <p:nvPr/>
          </p:nvSpPr>
          <p:spPr>
            <a:xfrm>
              <a:off x="9128" y="1842"/>
              <a:ext cx="4970" cy="2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indent="0" eaLnBrk="1" fontAlgn="auto" latinLnBrk="0" hangingPunct="1">
                <a:spcAft>
                  <a:spcPts val="400"/>
                </a:spcAft>
              </a:pPr>
              <a:r>
                <a:rPr lang="en-US" sz="1200" b="1">
                  <a:latin typeface="Calibri" panose="020F0502020204030204" charset="0"/>
                  <a:cs typeface="Calibri" panose="020F0502020204030204" charset="0"/>
                </a:rPr>
                <a:t>Key Observations</a:t>
              </a:r>
              <a:endParaRPr lang="en-US" sz="1200" b="1">
                <a:latin typeface="Calibri" panose="020F0502020204030204" charset="0"/>
                <a:cs typeface="Calibri" panose="020F0502020204030204" charset="0"/>
              </a:endParaRPr>
            </a:p>
            <a:p>
              <a:r>
                <a:rPr lang="en-US" sz="1100">
                  <a:latin typeface="Calibri" panose="020F0502020204030204" charset="0"/>
                  <a:cs typeface="Calibri" panose="020F0502020204030204" charset="0"/>
                </a:rPr>
                <a:t>Before Launch - both buy and sell-side activities have a </a:t>
              </a:r>
              <a:r>
                <a:rPr lang="en-US" sz="1100" b="1">
                  <a:latin typeface="Calibri" panose="020F0502020204030204" charset="0"/>
                  <a:cs typeface="Calibri" panose="020F0502020204030204" charset="0"/>
                </a:rPr>
                <a:t>stable gap</a:t>
              </a:r>
              <a:r>
                <a:rPr lang="en-US" sz="1100">
                  <a:latin typeface="Calibri" panose="020F0502020204030204" charset="0"/>
                  <a:cs typeface="Calibri" panose="020F0502020204030204" charset="0"/>
                </a:rPr>
                <a:t>, with sell-side activity being consistently higher.</a:t>
              </a:r>
              <a:endParaRPr lang="en-US" sz="1100">
                <a:latin typeface="Calibri" panose="020F0502020204030204" charset="0"/>
                <a:cs typeface="Calibri" panose="020F0502020204030204" charset="0"/>
              </a:endParaRPr>
            </a:p>
            <a:p>
              <a:endParaRPr lang="en-US" sz="1100">
                <a:latin typeface="Calibri" panose="020F0502020204030204" charset="0"/>
                <a:cs typeface="Calibri" panose="020F0502020204030204" charset="0"/>
              </a:endParaRPr>
            </a:p>
            <a:p>
              <a:r>
                <a:rPr lang="en-US" sz="1100">
                  <a:latin typeface="Calibri" panose="020F0502020204030204" charset="0"/>
                  <a:cs typeface="Calibri" panose="020F0502020204030204" charset="0"/>
                </a:rPr>
                <a:t>After Launch - Gap between buy and sell-side activities generally </a:t>
              </a:r>
              <a:r>
                <a:rPr lang="en-US" sz="1100" b="1">
                  <a:latin typeface="Calibri" panose="020F0502020204030204" charset="0"/>
                  <a:cs typeface="Calibri" panose="020F0502020204030204" charset="0"/>
                </a:rPr>
                <a:t>widened</a:t>
              </a:r>
              <a:r>
                <a:rPr lang="en-US" sz="1100">
                  <a:latin typeface="Calibri" panose="020F0502020204030204" charset="0"/>
                  <a:cs typeface="Calibri" panose="020F0502020204030204" charset="0"/>
                </a:rPr>
                <a:t>, with sell-side activities increasing much more strongly.</a:t>
              </a:r>
              <a:endParaRPr lang="en-US" sz="110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7"/>
          <p:cNvSpPr txBox="1"/>
          <p:nvPr/>
        </p:nvSpPr>
        <p:spPr>
          <a:xfrm>
            <a:off x="828040" y="627380"/>
            <a:ext cx="5011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3. Extract Weights*: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19" name="Table 18"/>
          <p:cNvGraphicFramePr/>
          <p:nvPr>
            <p:custDataLst>
              <p:tags r:id="rId1"/>
            </p:custDataLst>
          </p:nvPr>
        </p:nvGraphicFramePr>
        <p:xfrm>
          <a:off x="499745" y="1059180"/>
          <a:ext cx="814451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455"/>
                <a:gridCol w="1328420"/>
                <a:gridCol w="571563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Term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Weights / Value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Interpretation</a:t>
                      </a:r>
                      <a:endParaRPr lang="en-US" sz="1200">
                        <a:solidFill>
                          <a:schemeClr val="tx1">
                            <a:lumMod val="50000"/>
                          </a:schemeClr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180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Intercept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1,487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Before portal launch, sell-side agents handled about 1,487 cases per month, on average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Buyer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- 514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Before portal launch, buy-side agents handled about 514 fewer cases per month than sell-side agents </a:t>
                      </a: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(973 cases)</a:t>
                      </a: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, on average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Post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405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After portal launch, sell-side agents handled about 405 more cases per month than before the launch, on average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Post:Buyer</a:t>
                      </a:r>
                      <a:endParaRPr lang="en-US" sz="1200">
                        <a:solidFill>
                          <a:srgbClr val="C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- 642</a:t>
                      </a:r>
                      <a:endParaRPr lang="en-US" sz="1200">
                        <a:solidFill>
                          <a:srgbClr val="C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After portal launch, buy-side agents handled about 642 fewer cases per month than sell-side agents, on average</a:t>
                      </a:r>
                      <a:endParaRPr lang="en-US" sz="1200">
                        <a:solidFill>
                          <a:srgbClr val="C0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3" name="Text Box 22"/>
          <p:cNvSpPr txBox="1"/>
          <p:nvPr/>
        </p:nvSpPr>
        <p:spPr>
          <a:xfrm>
            <a:off x="828040" y="3147695"/>
            <a:ext cx="5011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4. Key Findings from the DiD Study: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0" y="4929505"/>
            <a:ext cx="867092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800">
                <a:latin typeface="Calibri" panose="020F0502020204030204" charset="0"/>
                <a:cs typeface="Calibri" panose="020F0502020204030204" charset="0"/>
                <a:sym typeface="+mn-ea"/>
              </a:rPr>
              <a:t>* </a:t>
            </a:r>
            <a:r>
              <a:rPr lang="en-US" altLang="en-US" sz="800">
                <a:latin typeface="Calibri" panose="020F0502020204030204" charset="0"/>
                <a:cs typeface="Calibri" panose="020F0502020204030204" charset="0"/>
                <a:sym typeface="+mn-ea"/>
              </a:rPr>
              <a:t>Robust (HC1) standard errors are used. All key coefficients discussed are statistically significant at the 1% level unless otherwise stated.</a:t>
            </a:r>
            <a:endParaRPr lang="en-US" altLang="en-US" sz="8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6" name="Google Shape;3009;p53"/>
          <p:cNvSpPr/>
          <p:nvPr/>
        </p:nvSpPr>
        <p:spPr>
          <a:xfrm>
            <a:off x="1309370" y="3579495"/>
            <a:ext cx="6524625" cy="101981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Overall agent-handled resale activity continued to grow post-2018.</a:t>
            </a:r>
            <a:endParaRPr lang="en-US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There is reduced reliance on buy-side property agents, suggesting a structural shift toward self-directed transactions from buyers.</a:t>
            </a:r>
            <a:endParaRPr lang="en-US" altLang="en-US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8" name="Google Shape;1890;p36"/>
          <p:cNvSpPr txBox="1"/>
          <p:nvPr/>
        </p:nvSpPr>
        <p:spPr>
          <a:xfrm>
            <a:off x="611505" y="123825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Impact of HDB Resale Portal on Buy Vs. Sell-side Transactions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Google Shape;1890;p36"/>
          <p:cNvSpPr txBox="1"/>
          <p:nvPr/>
        </p:nvSpPr>
        <p:spPr>
          <a:xfrm>
            <a:off x="611505" y="195580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Changing Reliance on Buy-side Agents Over Time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2465959" y="699389"/>
                <a:ext cx="4065905" cy="4699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𝐵𝑢𝑦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𝑠𝑖𝑑𝑒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𝑆ℎ𝑎𝑟𝑒</m:t>
                      </m:r>
                      <m:r>
                        <a:rPr lang="en-US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 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𝐵𝑢𝑦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𝑠𝑖𝑑𝑒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𝑇𝑟𝑎𝑛𝑠𝑎𝑐𝑡𝑖𝑜𝑛𝑠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𝐵𝑢𝑦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+ 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𝑆𝑒𝑙𝑙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𝑠𝑖𝑑𝑒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sz="12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𝑇𝑟𝑎𝑛𝑠𝑎𝑐𝑡𝑖𝑜𝑛𝑠</m:t>
                          </m:r>
                        </m:den>
                      </m:f>
                    </m:oMath>
                  </m:oMathPara>
                </a14:m>
                <a:endParaRPr lang="en-US" sz="12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959" y="699389"/>
                <a:ext cx="4065905" cy="469900"/>
              </a:xfrm>
              <a:prstGeom prst="rect">
                <a:avLst/>
              </a:prstGeom>
              <a:blipFill rotWithShape="1">
                <a:blip r:embed="rId1"/>
                <a:stretch>
                  <a:fillRect l="-6" t="-54" r="6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548130" y="1362075"/>
            <a:ext cx="6046470" cy="2383790"/>
            <a:chOff x="2438" y="2376"/>
            <a:chExt cx="9522" cy="375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8" y="2376"/>
              <a:ext cx="9522" cy="3755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 flipV="1">
              <a:off x="7427" y="3790"/>
              <a:ext cx="3453" cy="1486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Text Box 17"/>
            <p:cNvSpPr txBox="1"/>
            <p:nvPr/>
          </p:nvSpPr>
          <p:spPr>
            <a:xfrm>
              <a:off x="9241" y="4584"/>
              <a:ext cx="247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200">
                  <a:latin typeface="Calibri" panose="020F0502020204030204" charset="0"/>
                  <a:cs typeface="Calibri" panose="020F0502020204030204" charset="0"/>
                </a:rPr>
                <a:t>Buy-side share increased after 2020</a:t>
              </a:r>
              <a:endParaRPr lang="en-US" sz="120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3" name="Text Box 22"/>
          <p:cNvSpPr txBox="1"/>
          <p:nvPr/>
        </p:nvSpPr>
        <p:spPr>
          <a:xfrm>
            <a:off x="1331595" y="3796030"/>
            <a:ext cx="70313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</a:rPr>
              <a:t>Key Findings: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Agents shifted toward seller representation initially.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  <a:cs typeface="Calibri" panose="020F0502020204030204" charset="0"/>
              </a:rPr>
              <a:t>Over time (after 2020), agents repositioned buyer services (i.e., market adaptation) amidst strong demand for HDB resale post-COVID (</a:t>
            </a:r>
            <a:r>
              <a:rPr lang="en-US">
                <a:latin typeface="Calibri" panose="020F0502020204030204" charset="0"/>
                <a:cs typeface="Calibri" panose="020F0502020204030204" charset="0"/>
                <a:hlinkClick r:id="rId3" action="ppaction://hlinkfile"/>
              </a:rPr>
              <a:t>HDB resale article</a:t>
            </a:r>
            <a:r>
              <a:rPr lang="en-US">
                <a:latin typeface="Calibri" panose="020F0502020204030204" charset="0"/>
                <a:cs typeface="Calibri" panose="020F0502020204030204" charset="0"/>
              </a:rPr>
              <a:t>).</a:t>
            </a:r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Google Shape;1890;p36"/>
          <p:cNvSpPr txBox="1"/>
          <p:nvPr/>
        </p:nvSpPr>
        <p:spPr>
          <a:xfrm>
            <a:off x="611505" y="195580"/>
            <a:ext cx="6899910" cy="57594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Limitations, Future Considerations &amp; Conclusion</a:t>
            </a:r>
            <a:endParaRPr lang="en-US" altLang="en-GB" sz="18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Google Shape;1890;p36"/>
          <p:cNvSpPr txBox="1"/>
          <p:nvPr/>
        </p:nvSpPr>
        <p:spPr>
          <a:xfrm>
            <a:off x="800100" y="987425"/>
            <a:ext cx="7544435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GB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1. Income Impact </a:t>
            </a:r>
            <a:endParaRPr lang="en-US" altLang="en-GB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Agent activity could be linked to transaction values or commissions to examine income impacts.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2. Estate Transactions</a:t>
            </a:r>
            <a:endParaRPr lang="en-US" altLang="en-US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Study heterogeneity across towns (maturity, distance from city center) to identify where the portal has the strongest effects.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3. External shocks post-2018</a:t>
            </a:r>
            <a:endParaRPr lang="en-US" altLang="en-US" sz="1500" b="1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en-US" sz="1500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Other confouding shocks may affect transaction activities such as COVID-19 policies, interest rate adjustments and housing policy changes.</a:t>
            </a: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0" lvl="0" indent="0" algn="l" rtl="0" eaLnBrk="1" fontAlgn="auto" latinLnBrk="0" hangingPunct="1">
              <a:spcBef>
                <a:spcPts val="0"/>
              </a:spcBef>
              <a:spcAft>
                <a:spcPts val="400"/>
              </a:spcAft>
              <a:buNone/>
            </a:pPr>
            <a:endParaRPr lang="en-US" altLang="en-US" sz="1500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Google Shape;3009;p53"/>
          <p:cNvSpPr/>
          <p:nvPr/>
        </p:nvSpPr>
        <p:spPr>
          <a:xfrm>
            <a:off x="800100" y="3651885"/>
            <a:ext cx="7543800" cy="8699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Concluding Remarks </a:t>
            </a:r>
            <a:r>
              <a:rPr lang="en-US" altLang="en-US">
                <a:solidFill>
                  <a:schemeClr val="tx1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- This study illustrates how digital public services can improve consumer efficiency while reshaping — rather than displacing — professional service roles.</a:t>
            </a:r>
            <a:endParaRPr lang="en-US" altLang="en-US">
              <a:solidFill>
                <a:schemeClr val="tx1">
                  <a:lumMod val="50000"/>
                </a:schemeClr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8*131"/>
  <p:tag name="TABLE_ENDDRAG_RECT" val="76*236*598*131"/>
</p:tagLst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3933</Words>
  <Application>WPS Presentation</Application>
  <PresentationFormat/>
  <Paragraphs>104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SimSun</vt:lpstr>
      <vt:lpstr>Wingdings</vt:lpstr>
      <vt:lpstr>Arial</vt:lpstr>
      <vt:lpstr>Fjalla One</vt:lpstr>
      <vt:lpstr>Barlow Semi Condensed Medium</vt:lpstr>
      <vt:lpstr>Barlow Semi Condensed</vt:lpstr>
      <vt:lpstr>Roboto Condensed Light</vt:lpstr>
      <vt:lpstr>Roboto</vt:lpstr>
      <vt:lpstr>Calibri</vt:lpstr>
      <vt:lpstr>Cambria Math</vt:lpstr>
      <vt:lpstr>Microsoft YaHei</vt:lpstr>
      <vt:lpstr>Arial Unicode MS</vt:lpstr>
      <vt:lpstr>Mali</vt:lpstr>
      <vt:lpstr>Segoe Print</vt:lpstr>
      <vt:lpstr>Mali SemiBold</vt:lpstr>
      <vt:lpstr>Technology Consulting by Slidesgo</vt:lpstr>
      <vt:lpstr>Effect of HDB Resale Portal on Agents</vt:lpstr>
      <vt:lpstr> Bottom Line Up Front</vt:lpstr>
      <vt:lpstr> Impact of HDB Resale Portal on Buy Vs. Sell-side Transactions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Preschools Supply Planning</dc:title>
  <dc:creator/>
  <cp:lastModifiedBy>Darren Lim</cp:lastModifiedBy>
  <cp:revision>78</cp:revision>
  <dcterms:created xsi:type="dcterms:W3CDTF">2026-01-10T05:38:00Z</dcterms:created>
  <dcterms:modified xsi:type="dcterms:W3CDTF">2026-01-11T03:27:22Z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642E6EE966344ECA9EE9D6E502FB8F8D_12</vt:lpwstr>
  </property>
  <property fmtid="{D5CDD505-2E9C-101B-9397-08002B2CF9AE}" pid="3" name="KSOProductBuildVer">
    <vt:lpwstr>1033-12.2.0.23196</vt:lpwstr>
  </property>
</Properties>
</file>