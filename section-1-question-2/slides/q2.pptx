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6" r:id="rId3"/>
    <p:sldId id="320" r:id="rId5"/>
    <p:sldId id="322" r:id="rId6"/>
    <p:sldId id="326" r:id="rId7"/>
    <p:sldId id="321" r:id="rId8"/>
    <p:sldId id="328" r:id="rId9"/>
    <p:sldId id="327" r:id="rId10"/>
    <p:sldId id="325" r:id="rId11"/>
  </p:sldIdLst>
  <p:sldSz cx="9144000" cy="5143500"/>
  <p:notesSz cx="6858000" cy="9144000"/>
  <p:embeddedFontLst>
    <p:embeddedFont>
      <p:font typeface="Fjalla One"/>
      <p:regular r:id="rId16"/>
    </p:embeddedFont>
    <p:embeddedFont>
      <p:font typeface="Barlow Semi Condensed Medium" panose="00000606000000000000"/>
      <p:regular r:id="rId17"/>
    </p:embeddedFont>
    <p:embeddedFont>
      <p:font typeface="Barlow Semi Condensed" panose="00000506000000000000"/>
      <p:regular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  <p:embeddedFont>
      <p:font typeface="Cambria Math" panose="0204050305040603020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BE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hyperlink" Target="https://stories.freepik.com/" TargetMode="External"/><Relationship Id="rId4" Type="http://schemas.openxmlformats.org/officeDocument/2006/relationships/hyperlink" Target="https://www.freepik.com/" TargetMode="External"/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/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/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5" name="Google Shape;115;p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7" name="Google Shape;177;p5"/>
          <p:cNvSpPr txBox="1"/>
          <p:nvPr>
            <p:ph type="subTitle" idx="1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78" name="Google Shape;178;p5"/>
          <p:cNvSpPr txBox="1"/>
          <p:nvPr>
            <p:ph type="subTitle" idx="2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type="subTitle" idx="3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0" name="Google Shape;180;p5"/>
          <p:cNvSpPr txBox="1"/>
          <p:nvPr>
            <p:ph type="subTitle" idx="4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1" name="Google Shape;181;p5"/>
          <p:cNvSpPr txBox="1"/>
          <p:nvPr>
            <p:ph type="title" idx="5" hasCustomPrompt="1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/>
          <p:nvPr>
            <p:ph type="title" idx="6" hasCustomPrompt="1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305" name="Google Shape;305;p7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70" name="Google Shape;370;p8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0" name="Google Shape;440;p9"/>
          <p:cNvSpPr txBox="1"/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●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○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■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●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○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■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●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○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■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/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 panose="00000506000000000000"/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</a:lstStyle>
          <a:p/>
        </p:txBody>
      </p:sp>
      <p:sp>
        <p:nvSpPr>
          <p:cNvPr id="503" name="Google Shape;503;p10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10"/>
          <p:cNvCxnSpPr/>
          <p:nvPr/>
        </p:nvCxnSpPr>
        <p:spPr>
          <a:xfrm rot="10800000" flipH="1">
            <a:off x="7975" y="4332600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50" name="Google Shape;550;p11"/>
          <p:cNvSpPr txBox="1"/>
          <p:nvPr>
            <p:ph type="subTitle" idx="1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11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5" name="Google Shape;555;p11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62" name="Google Shape;562;p11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67" name="Google Shape;567;p11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9" name="Google Shape;579;p11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583" name="Google Shape;583;p11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11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21" name="Google Shape;621;p11"/>
          <p:cNvSpPr txBox="1"/>
          <p:nvPr>
            <p:ph type="title" hasCustomPrompt="1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13"/>
          <p:cNvSpPr txBox="1"/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26" name="Google Shape;626;p13"/>
          <p:cNvSpPr txBox="1"/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27" name="Google Shape;627;p13"/>
          <p:cNvSpPr txBox="1"/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28" name="Google Shape;628;p13"/>
          <p:cNvSpPr txBox="1"/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29" name="Google Shape;629;p13"/>
          <p:cNvSpPr txBox="1"/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30" name="Google Shape;630;p13"/>
          <p:cNvSpPr txBox="1"/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31" name="Google Shape;631;p13"/>
          <p:cNvSpPr txBox="1"/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32" name="Google Shape;632;p13"/>
          <p:cNvSpPr txBox="1"/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33" name="Google Shape;633;p13"/>
          <p:cNvSpPr txBox="1"/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/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/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14"/>
          <p:cNvSpPr txBox="1"/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40" name="Google Shape;640;p14"/>
          <p:cNvSpPr txBox="1"/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41" name="Google Shape;641;p14"/>
          <p:cNvSpPr txBox="1"/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42" name="Google Shape;642;p14"/>
          <p:cNvSpPr txBox="1"/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43" name="Google Shape;643;p14"/>
          <p:cNvSpPr txBox="1"/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44" name="Google Shape;644;p14"/>
          <p:cNvSpPr txBox="1"/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15"/>
          <p:cNvSpPr txBox="1"/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68" name="Google Shape;668;p15"/>
          <p:cNvSpPr txBox="1"/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69" name="Google Shape;669;p15"/>
          <p:cNvSpPr txBox="1"/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70" name="Google Shape;670;p15"/>
          <p:cNvSpPr txBox="1"/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71" name="Google Shape;671;p15"/>
          <p:cNvSpPr txBox="1"/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72" name="Google Shape;672;p15"/>
          <p:cNvSpPr txBox="1"/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73" name="Google Shape;673;p15"/>
          <p:cNvSpPr txBox="1"/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74" name="Google Shape;674;p15"/>
          <p:cNvSpPr txBox="1"/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2">
  <p:cSld name="CUSTOM_7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3" name="Google Shape;713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4" name="Google Shape;714;p16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54" name="Google Shape;754;p16"/>
          <p:cNvSpPr txBox="1"/>
          <p:nvPr>
            <p:ph type="subTitle" idx="1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55" name="Google Shape;755;p16"/>
          <p:cNvSpPr txBox="1"/>
          <p:nvPr>
            <p:ph type="subTitle" idx="2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56" name="Google Shape;756;p16"/>
          <p:cNvSpPr txBox="1"/>
          <p:nvPr>
            <p:ph type="subTitle" idx="3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57" name="Google Shape;757;p16"/>
          <p:cNvSpPr txBox="1"/>
          <p:nvPr>
            <p:ph type="subTitle" idx="4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8" name="Google Shape;758;p16"/>
          <p:cNvSpPr txBox="1"/>
          <p:nvPr>
            <p:ph type="subTitle" idx="5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759" name="Google Shape;759;p16"/>
          <p:cNvSpPr txBox="1"/>
          <p:nvPr>
            <p:ph type="subTitle" idx="6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of text">
  <p:cSld name="CUSTOM_8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17"/>
          <p:cNvSpPr txBox="1"/>
          <p:nvPr>
            <p:ph type="subTitle" idx="1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63" name="Google Shape;763;p17"/>
          <p:cNvSpPr txBox="1"/>
          <p:nvPr>
            <p:ph type="subTitle" idx="2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764" name="Google Shape;764;p17"/>
          <p:cNvSpPr txBox="1"/>
          <p:nvPr>
            <p:ph type="subTitle" idx="3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65" name="Google Shape;765;p17"/>
          <p:cNvSpPr txBox="1"/>
          <p:nvPr>
            <p:ph type="subTitle" idx="4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766" name="Google Shape;766;p17"/>
          <p:cNvSpPr txBox="1"/>
          <p:nvPr>
            <p:ph type="subTitle" idx="5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67" name="Google Shape;767;p17"/>
          <p:cNvSpPr txBox="1"/>
          <p:nvPr>
            <p:ph type="subTitle" idx="6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768" name="Google Shape;768;p17"/>
          <p:cNvSpPr txBox="1"/>
          <p:nvPr>
            <p:ph type="subTitle" idx="7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69" name="Google Shape;769;p17"/>
          <p:cNvSpPr txBox="1"/>
          <p:nvPr>
            <p:ph type="subTitle" idx="8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770" name="Google Shape;770;p17"/>
          <p:cNvSpPr txBox="1"/>
          <p:nvPr>
            <p:ph type="subTitle" idx="9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71" name="Google Shape;771;p17"/>
          <p:cNvSpPr txBox="1"/>
          <p:nvPr>
            <p:ph type="subTitle" idx="13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772" name="Google Shape;772;p17"/>
          <p:cNvSpPr txBox="1"/>
          <p:nvPr>
            <p:ph type="subTitle" idx="14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73" name="Google Shape;773;p17"/>
          <p:cNvSpPr txBox="1"/>
          <p:nvPr>
            <p:ph type="subTitle" idx="15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5" name="Google Shape;775;p17"/>
          <p:cNvCxnSpPr/>
          <p:nvPr/>
        </p:nvCxnSpPr>
        <p:spPr>
          <a:xfrm rot="10800000" flipH="1">
            <a:off x="1562083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0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2" name="Google Shape;842;p18"/>
          <p:cNvSpPr txBox="1"/>
          <p:nvPr>
            <p:ph type="subTitle" idx="1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18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913" name="Google Shape;913;p19"/>
          <p:cNvSpPr txBox="1"/>
          <p:nvPr>
            <p:ph type="subTitle" idx="1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rPr>
              <a:t>CREDITS:</a:t>
            </a:r>
            <a:r>
              <a:rPr lang="en-GB" sz="11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 This presentation template was created by </a:t>
            </a:r>
            <a:r>
              <a:rPr lang="en-GB" sz="1100">
                <a:solidFill>
                  <a:schemeClr val="accent1"/>
                </a:solidFill>
                <a:uFill>
                  <a:noFill/>
                </a:u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  <a:hlinkClick r:id="rId2"/>
              </a:rPr>
              <a:t>Slidesgo</a:t>
            </a:r>
            <a:r>
              <a:rPr lang="en-GB" sz="11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, including icons by </a:t>
            </a:r>
            <a:r>
              <a:rPr lang="en-GB" sz="1100">
                <a:solidFill>
                  <a:schemeClr val="accent1"/>
                </a:solidFill>
                <a:uFill>
                  <a:noFill/>
                </a:u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  <a:hlinkClick r:id="rId3"/>
              </a:rPr>
              <a:t>Flaticon</a:t>
            </a:r>
            <a:r>
              <a:rPr lang="en-GB" sz="11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, infographics &amp; images by </a:t>
            </a:r>
            <a:r>
              <a:rPr lang="en-GB" sz="1100">
                <a:solidFill>
                  <a:schemeClr val="accent1"/>
                </a:solidFill>
                <a:uFill>
                  <a:noFill/>
                </a:u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  <a:hlinkClick r:id="rId4"/>
              </a:rPr>
              <a:t>Freepik</a:t>
            </a:r>
            <a:r>
              <a:rPr lang="en-GB" sz="11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 and illustrations by </a:t>
            </a:r>
            <a:r>
              <a:rPr lang="en-GB" sz="1100">
                <a:solidFill>
                  <a:schemeClr val="accent1"/>
                </a:solidFill>
                <a:uFill>
                  <a:noFill/>
                </a:u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  <a:hlinkClick r:id="rId5"/>
              </a:rPr>
              <a:t>Stories</a:t>
            </a:r>
            <a:endParaRPr>
              <a:solidFill>
                <a:schemeClr val="dk2"/>
              </a:solidFill>
              <a:latin typeface="Barlow Semi Condensed Medium" panose="00000606000000000000"/>
              <a:ea typeface="Barlow Semi Condensed Medium" panose="00000606000000000000"/>
              <a:cs typeface="Barlow Semi Condensed Medium" panose="00000606000000000000"/>
              <a:sym typeface="Barlow Semi Condensed Medium" panose="00000606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19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19" name="Google Shape;919;p19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26" name="Google Shape;926;p19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31" name="Google Shape;931;p19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43" name="Google Shape;943;p19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947" name="Google Shape;947;p19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19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ed numbers">
  <p:cSld name="CUSTOM_1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/>
          <p:nvPr>
            <p:ph type="title" hasCustomPrompt="1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/>
          <p:nvPr>
            <p:ph type="subTitle" idx="1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988" name="Google Shape;988;p20"/>
          <p:cNvSpPr txBox="1"/>
          <p:nvPr>
            <p:ph type="title" idx="2" hasCustomPrompt="1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/>
          <p:nvPr>
            <p:ph type="subTitle" idx="3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type="title" idx="4" hasCustomPrompt="1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/>
          <p:nvPr>
            <p:ph type="subTitle" idx="5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20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96" name="Google Shape;996;p20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024" name="Google Shape;1024;p20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20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CUSTOM_13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084" name="Google Shape;1084;p21"/>
          <p:cNvSpPr txBox="1"/>
          <p:nvPr>
            <p:ph type="subTitle" idx="1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1085" name="Google Shape;1085;p21"/>
          <p:cNvSpPr txBox="1"/>
          <p:nvPr>
            <p:ph type="subTitle" idx="2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086" name="Google Shape;1086;p21"/>
          <p:cNvSpPr txBox="1"/>
          <p:nvPr>
            <p:ph type="subTitle" idx="3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1087" name="Google Shape;1087;p21"/>
          <p:cNvSpPr txBox="1"/>
          <p:nvPr>
            <p:ph type="subTitle" idx="4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088" name="Google Shape;1088;p21"/>
          <p:cNvSpPr txBox="1"/>
          <p:nvPr>
            <p:ph type="subTitle" idx="5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1089" name="Google Shape;1089;p21"/>
          <p:cNvSpPr txBox="1"/>
          <p:nvPr>
            <p:ph type="subTitle" idx="6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4">
  <p:cSld name="CUSTOM_14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2" name="Google Shape;1092;p22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093" name="Google Shape;1093;p22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33" name="Google Shape;1133;p22"/>
          <p:cNvSpPr txBox="1"/>
          <p:nvPr>
            <p:ph type="subTitle" idx="1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1134" name="Google Shape;1134;p22"/>
          <p:cNvSpPr txBox="1"/>
          <p:nvPr>
            <p:ph type="subTitle" idx="2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1135" name="Google Shape;1135;p22"/>
          <p:cNvSpPr txBox="1"/>
          <p:nvPr>
            <p:ph type="subTitle" idx="3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1136" name="Google Shape;1136;p22"/>
          <p:cNvSpPr txBox="1"/>
          <p:nvPr>
            <p:ph type="subTitle" idx="4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137" name="Google Shape;1137;p22"/>
          <p:cNvSpPr txBox="1"/>
          <p:nvPr>
            <p:ph type="subTitle" idx="5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138" name="Google Shape;1138;p22"/>
          <p:cNvSpPr txBox="1"/>
          <p:nvPr>
            <p:ph type="subTitle" idx="6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p23"/>
          <p:cNvSpPr txBox="1"/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 panose="00000606000000000000"/>
              <a:buAutoNum type="arabicPeriod"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86;p24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6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9" name="Google Shape;1229;p25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2" name="Google Shape;1262;p25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7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26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22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50" name="Google Shape;1550;p31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618" name="Google Shape;1618;p31"/>
          <p:cNvSpPr txBox="1"/>
          <p:nvPr>
            <p:ph type="subTitle" idx="1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3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/>
          <p:nvPr>
            <p:ph type="body" idx="1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621" name="Google Shape;1621;p32"/>
          <p:cNvSpPr txBox="1"/>
          <p:nvPr>
            <p:ph type="body" idx="2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622" name="Google Shape;1622;p32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2000" y="270000"/>
            <a:ext cx="8100000" cy="540000"/>
          </a:xfrm>
        </p:spPr>
        <p:txBody>
          <a:bodyPr wrap="square" lIns="0" tIns="0" rIns="0" bIns="0">
            <a:normAutofit/>
          </a:bodyPr>
          <a:lstStyle>
            <a:lvl1pPr algn="l" fontAlgn="base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459000" y="4735800"/>
            <a:ext cx="2025000" cy="237600"/>
          </a:xfrm>
        </p:spPr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658200" y="4735800"/>
            <a:ext cx="2025000" cy="237600"/>
          </a:xfrm>
        </p:spPr>
        <p:txBody>
          <a:bodyPr wrap="square">
            <a:normAutofit/>
          </a:bodyPr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3" Type="http://schemas.openxmlformats.org/officeDocument/2006/relationships/theme" Target="../theme/theme1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2.xml"/><Relationship Id="rId1" Type="http://schemas.openxmlformats.org/officeDocument/2006/relationships/hyperlink" Target="https://data.gov.sg/datasets/d_69b3380ad7e51aff3a7dcc84eba52b8a/view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image" Target="../media/image10.png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22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35"/>
          <p:cNvSpPr txBox="1"/>
          <p:nvPr>
            <p:ph type="ctrTitle"/>
          </p:nvPr>
        </p:nvSpPr>
        <p:spPr>
          <a:xfrm>
            <a:off x="1082675" y="1708150"/>
            <a:ext cx="6978650" cy="9759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32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COE Price Prediction &amp; Elasticity Analysis</a:t>
            </a:r>
            <a:endParaRPr lang="en-US" altLang="en-GB" sz="32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885" name="Google Shape;1885;p35"/>
          <p:cNvSpPr txBox="1"/>
          <p:nvPr>
            <p:ph type="subTitle" idx="1"/>
          </p:nvPr>
        </p:nvSpPr>
        <p:spPr>
          <a:xfrm>
            <a:off x="1818005" y="2684780"/>
            <a:ext cx="5507990" cy="895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8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Lim Kang Heng</a:t>
            </a:r>
            <a:endParaRPr lang="en-US" sz="18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8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Govtech Case Study - Section 1 (Question 2)</a:t>
            </a:r>
            <a:endParaRPr lang="en-US" sz="18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/>
          <p:nvPr>
            <p:ph type="title"/>
          </p:nvPr>
        </p:nvSpPr>
        <p:spPr>
          <a:xfrm>
            <a:off x="611505" y="339725"/>
            <a:ext cx="6899910" cy="575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Bottom Line Up Front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Google Shape;1890;p36"/>
          <p:cNvSpPr txBox="1"/>
          <p:nvPr/>
        </p:nvSpPr>
        <p:spPr>
          <a:xfrm>
            <a:off x="683895" y="843915"/>
            <a:ext cx="7703820" cy="153098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Study Context &amp; Objective</a:t>
            </a:r>
            <a:endParaRPr lang="en-US" altLang="en-US" sz="14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Quarterly quota adjustments by LTA are a key policy lever, yet the price response of COE premiums to marginal quota changes is not well understood. This study evaluates:</a:t>
            </a:r>
            <a:endParaRPr lang="en-US" altLang="en-US" sz="1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Whether COE prices can be reliably forecasted (</a:t>
            </a: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hlinkClick r:id="rId1" tooltip="" action="ppaction://hlinkfile"/>
              </a:rPr>
              <a:t>data source</a:t>
            </a: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).</a:t>
            </a:r>
            <a:endParaRPr lang="en-US" altLang="en-US" sz="1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How sensitive prices are to quota changes for Categories A and B.</a:t>
            </a:r>
            <a:endParaRPr lang="en-US" altLang="en-US" sz="1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Google Shape;1890;p36"/>
          <p:cNvSpPr txBox="1"/>
          <p:nvPr/>
        </p:nvSpPr>
        <p:spPr>
          <a:xfrm>
            <a:off x="683895" y="2283460"/>
            <a:ext cx="7703820" cy="93726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Study Approach:</a:t>
            </a: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SARIMA Forecasting Model Exogenous Features (SARIMAX). The process includes:</a:t>
            </a:r>
            <a:endParaRPr lang="en-US" altLang="en-US" sz="1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Feature Engineering, Train-Test Split, Time-series Cross Validation &amp; Grid Search for Hyperparameter Tuning</a:t>
            </a:r>
            <a:endParaRPr lang="en-US" altLang="en-US" sz="1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2" name="Google Shape;1890;p36"/>
          <p:cNvSpPr txBox="1"/>
          <p:nvPr/>
        </p:nvSpPr>
        <p:spPr>
          <a:xfrm>
            <a:off x="683895" y="3147695"/>
            <a:ext cx="7890510" cy="16535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GB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Key Findings: </a:t>
            </a:r>
            <a:endParaRPr lang="en-US" altLang="en-GB" sz="14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COE prices exhibit strong persistence, with current prices closely tracking past auction outcomes.</a:t>
            </a:r>
            <a:endParaRPr lang="en-US" altLang="en-US" sz="1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The forecasting models perform well (4% MAPE), capturing medium-term price dynamics without overfitting short-term auction noise.</a:t>
            </a:r>
            <a:endParaRPr lang="en-US" altLang="en-US" sz="1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Small, marginal quota increases have </a:t>
            </a:r>
            <a:r>
              <a:rPr lang="en-US" altLang="en-US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limited</a:t>
            </a: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short-run impact on prices, once demand pressure and price dynamics are accounted for.</a:t>
            </a:r>
            <a:endParaRPr lang="en-US" altLang="en-US" sz="1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/>
          <p:nvPr>
            <p:ph type="title"/>
          </p:nvPr>
        </p:nvSpPr>
        <p:spPr>
          <a:xfrm>
            <a:off x="611505" y="267335"/>
            <a:ext cx="6899910" cy="575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Model Features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39115" y="1561465"/>
            <a:ext cx="53841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alibri" panose="020F0502020204030204" charset="0"/>
                <a:cs typeface="Calibri" panose="020F0502020204030204" charset="0"/>
              </a:rPr>
              <a:t>1. </a:t>
            </a:r>
            <a:r>
              <a:rPr lang="en-US" b="1">
                <a:latin typeface="Calibri" panose="020F0502020204030204" charset="0"/>
                <a:cs typeface="Calibri" panose="020F0502020204030204" charset="0"/>
              </a:rPr>
              <a:t>Oversubscription Ratio</a:t>
            </a:r>
            <a:r>
              <a:rPr lang="en-US">
                <a:latin typeface="Calibri" panose="020F0502020204030204" charset="0"/>
                <a:cs typeface="Calibri" panose="020F0502020204030204" charset="0"/>
              </a:rPr>
              <a:t> - Captures competitiveness of each auction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39115" y="960120"/>
            <a:ext cx="72148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latin typeface="Calibri" panose="020F0502020204030204" charset="0"/>
                <a:cs typeface="Calibri" panose="020F0502020204030204" charset="0"/>
              </a:rPr>
              <a:t>Motivation</a:t>
            </a:r>
            <a:r>
              <a:rPr lang="en-US">
                <a:latin typeface="Calibri" panose="020F0502020204030204" charset="0"/>
                <a:cs typeface="Calibri" panose="020F0502020204030204" charset="0"/>
              </a:rPr>
              <a:t>: To convert auction mechanics into economically meaningful signals that drive prices 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Box 3"/>
              <p:cNvSpPr txBox="1"/>
              <p:nvPr/>
            </p:nvSpPr>
            <p:spPr>
              <a:xfrm>
                <a:off x="3163189" y="1921764"/>
                <a:ext cx="2961640" cy="4660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𝑂𝑣𝑒𝑟𝑠𝑢𝑏𝑠𝑐𝑟𝑖𝑝𝑡𝑖𝑜𝑛</m:t>
                      </m:r>
                      <m:r>
                        <a:rPr lang="en-US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𝑅𝑎𝑡𝑖𝑜</m:t>
                      </m:r>
                      <m:r>
                        <a:rPr lang="en-US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 = 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𝐵𝑖𝑑</m:t>
                          </m:r>
                          <m:r>
                            <a:rPr lang="en-US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𝑅𝑒𝑐𝑒𝑖𝑣𝑒𝑑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𝑄𝑢𝑜𝑡𝑎</m:t>
                          </m:r>
                        </m:den>
                      </m:f>
                    </m:oMath>
                  </m:oMathPara>
                </a14:m>
                <a:endParaRPr lang="en-US" sz="12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189" y="1921764"/>
                <a:ext cx="2961640" cy="466090"/>
              </a:xfrm>
              <a:prstGeom prst="rect">
                <a:avLst/>
              </a:prstGeom>
              <a:blipFill rotWithShape="1">
                <a:blip r:embed="rId1"/>
                <a:stretch>
                  <a:fillRect l="-9" t="-54" r="9" b="5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5"/>
          <p:cNvSpPr txBox="1"/>
          <p:nvPr/>
        </p:nvSpPr>
        <p:spPr>
          <a:xfrm>
            <a:off x="539115" y="2402840"/>
            <a:ext cx="69361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alibri" panose="020F0502020204030204" charset="0"/>
                <a:cs typeface="Calibri" panose="020F0502020204030204" charset="0"/>
              </a:rPr>
              <a:t>2. </a:t>
            </a:r>
            <a:r>
              <a:rPr lang="en-US" b="1">
                <a:latin typeface="Calibri" panose="020F0502020204030204" charset="0"/>
                <a:cs typeface="Calibri" panose="020F0502020204030204" charset="0"/>
              </a:rPr>
              <a:t>Quota</a:t>
            </a:r>
            <a:r>
              <a:rPr lang="en-US">
                <a:latin typeface="Calibri" panose="020F0502020204030204" charset="0"/>
                <a:cs typeface="Calibri" panose="020F0502020204030204" charset="0"/>
              </a:rPr>
              <a:t> - Policy lever under LTA’s control. Subsequently used for elasticity interpretation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43560" y="2767330"/>
            <a:ext cx="77781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alibri" panose="020F0502020204030204" charset="0"/>
                <a:cs typeface="Calibri" panose="020F0502020204030204" charset="0"/>
              </a:rPr>
              <a:t>3. </a:t>
            </a:r>
            <a:r>
              <a:rPr lang="en-US" b="1">
                <a:latin typeface="Calibri" panose="020F0502020204030204" charset="0"/>
                <a:cs typeface="Calibri" panose="020F0502020204030204" charset="0"/>
              </a:rPr>
              <a:t>Lagged Prices</a:t>
            </a:r>
            <a:r>
              <a:rPr lang="en-US">
                <a:latin typeface="Calibri" panose="020F0502020204030204" charset="0"/>
                <a:cs typeface="Calibri" panose="020F0502020204030204" charset="0"/>
              </a:rPr>
              <a:t> - Captures expectations and inertia between bidding exercises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43560" y="3145790"/>
            <a:ext cx="81121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alibri" panose="020F0502020204030204" charset="0"/>
                <a:cs typeface="Calibri" panose="020F0502020204030204" charset="0"/>
              </a:rPr>
              <a:t>4. </a:t>
            </a:r>
            <a:r>
              <a:rPr lang="en-US" b="1">
                <a:latin typeface="Calibri" panose="020F0502020204030204" charset="0"/>
                <a:cs typeface="Calibri" panose="020F0502020204030204" charset="0"/>
              </a:rPr>
              <a:t>Month of Year</a:t>
            </a:r>
            <a:r>
              <a:rPr lang="en-US">
                <a:latin typeface="Calibri" panose="020F0502020204030204" charset="0"/>
                <a:cs typeface="Calibri" panose="020F0502020204030204" charset="0"/>
              </a:rPr>
              <a:t> - Captures cyclical patterns (Apply sin/cos encoding - Dec &amp; Jan treated as adjacent periods)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8" name="Right Brace 17"/>
          <p:cNvSpPr/>
          <p:nvPr/>
        </p:nvSpPr>
        <p:spPr>
          <a:xfrm rot="5400000">
            <a:off x="4533265" y="231775"/>
            <a:ext cx="208915" cy="6902450"/>
          </a:xfrm>
          <a:prstGeom prst="rightBrace">
            <a:avLst/>
          </a:prstGeom>
          <a:ln>
            <a:solidFill>
              <a:schemeClr val="accent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899160" y="3888740"/>
            <a:ext cx="75672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latin typeface="Calibri" panose="020F0502020204030204" charset="0"/>
                <a:cs typeface="Calibri" panose="020F0502020204030204" charset="0"/>
              </a:rPr>
              <a:t>Apply log-transformations where applicable to stabilize variance and reduce effect of extreme values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/>
          <p:nvPr>
            <p:ph type="title"/>
          </p:nvPr>
        </p:nvSpPr>
        <p:spPr>
          <a:xfrm>
            <a:off x="611505" y="267335"/>
            <a:ext cx="6899910" cy="575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Hyperparameter Tuning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83895" y="1458595"/>
            <a:ext cx="70739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latin typeface="Calibri" panose="020F0502020204030204" charset="0"/>
                <a:cs typeface="Calibri" panose="020F0502020204030204" charset="0"/>
              </a:rPr>
              <a:t>Tuning Method:</a:t>
            </a:r>
            <a:r>
              <a:rPr lang="en-US">
                <a:latin typeface="Calibri" panose="020F0502020204030204" charset="0"/>
                <a:cs typeface="Calibri" panose="020F0502020204030204" charset="0"/>
              </a:rPr>
              <a:t> 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AutoNum type="arabicPeriod"/>
            </a:pPr>
            <a:r>
              <a:rPr lang="en-US">
                <a:latin typeface="Calibri" panose="020F0502020204030204" charset="0"/>
                <a:cs typeface="Calibri" panose="020F0502020204030204" charset="0"/>
                <a:sym typeface="+mn-ea"/>
              </a:rPr>
              <a:t>Train-test Separation - Train set (2010 - 2021), test set (2022 - 2025)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>
                <a:latin typeface="Calibri" panose="020F0502020204030204" charset="0"/>
                <a:cs typeface="Calibri" panose="020F0502020204030204" charset="0"/>
              </a:rPr>
              <a:t>Time-series Cross Validation within train set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>
                <a:latin typeface="Calibri" panose="020F0502020204030204" charset="0"/>
                <a:cs typeface="Calibri" panose="020F0502020204030204" charset="0"/>
              </a:rPr>
              <a:t>Grid Search Process* - Selects parameters with the lowest cross-validated average RMSE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Box 2"/>
              <p:cNvSpPr txBox="1"/>
              <p:nvPr/>
            </p:nvSpPr>
            <p:spPr>
              <a:xfrm>
                <a:off x="683895" y="1064260"/>
                <a:ext cx="721487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b="1">
                    <a:latin typeface="Calibri" panose="020F0502020204030204" charset="0"/>
                    <a:cs typeface="Calibri" panose="020F0502020204030204" charset="0"/>
                  </a:rPr>
                  <a:t>Model:</a:t>
                </a:r>
                <a:r>
                  <a:rPr lang="en-US"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SARIMAX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p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d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q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P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D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Q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12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>
          <p:sp>
            <p:nvSpPr>
              <p:cNvPr id="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95" y="1064260"/>
                <a:ext cx="7214870" cy="30670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4"/>
          <p:cNvSpPr txBox="1"/>
          <p:nvPr/>
        </p:nvSpPr>
        <p:spPr>
          <a:xfrm>
            <a:off x="683895" y="2499360"/>
            <a:ext cx="771017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latin typeface="Calibri" panose="020F0502020204030204" charset="0"/>
                <a:cs typeface="Calibri" panose="020F0502020204030204" charset="0"/>
              </a:rPr>
              <a:t>Model Efficacy:</a:t>
            </a:r>
            <a:r>
              <a:rPr lang="en-US">
                <a:latin typeface="Calibri" panose="020F0502020204030204" charset="0"/>
                <a:cs typeface="Calibri" panose="020F0502020204030204" charset="0"/>
              </a:rPr>
              <a:t> 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>
                <a:latin typeface="Calibri" panose="020F0502020204030204" charset="0"/>
                <a:cs typeface="Calibri" panose="020F0502020204030204" charset="0"/>
              </a:rPr>
              <a:t>Performance Measure - Performance evaluated on the held-out test set (gives realistic estimate of future performance)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Right Brace 7"/>
          <p:cNvSpPr/>
          <p:nvPr/>
        </p:nvSpPr>
        <p:spPr>
          <a:xfrm rot="5400000">
            <a:off x="4533265" y="15240"/>
            <a:ext cx="208915" cy="6902450"/>
          </a:xfrm>
          <a:prstGeom prst="rightBrace">
            <a:avLst/>
          </a:prstGeom>
          <a:ln>
            <a:solidFill>
              <a:schemeClr val="accent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899160" y="3696970"/>
            <a:ext cx="75672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latin typeface="Calibri" panose="020F0502020204030204" charset="0"/>
                <a:cs typeface="Calibri" panose="020F0502020204030204" charset="0"/>
              </a:rPr>
              <a:t>Separate tuning for Cat A and Cat B - Reflects different buyer profiles &amp; demand sensitivities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Box 9"/>
              <p:cNvSpPr txBox="1"/>
              <p:nvPr/>
            </p:nvSpPr>
            <p:spPr>
              <a:xfrm>
                <a:off x="34925" y="4836795"/>
                <a:ext cx="4572000" cy="21399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sz="800"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* Parameters tuned: p, q </a:t>
                </a:r>
                <a14:m>
                  <m:oMath xmlns:m="http://schemas.openxmlformats.org/officeDocument/2006/math">
                    <m:r>
                      <a:rPr lang="en-US" sz="800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∈</m:t>
                    </m:r>
                  </m:oMath>
                </a14:m>
                <a:r>
                  <a:rPr lang="en-US" sz="800"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 {0, 1, 2}, P, D, Q, d </a:t>
                </a:r>
                <a14:m>
                  <m:oMath xmlns:m="http://schemas.openxmlformats.org/officeDocument/2006/math">
                    <m:r>
                      <a:rPr lang="en-US" sz="800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∈</m:t>
                    </m:r>
                  </m:oMath>
                </a14:m>
                <a:r>
                  <a:rPr lang="en-US" sz="800"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 {0, 1}. </a:t>
                </a:r>
                <a:r>
                  <a:rPr lang="en-US" sz="800"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 </a:t>
                </a:r>
                <a:endParaRPr lang="en-US" sz="800">
                  <a:latin typeface="Calibri" panose="020F0502020204030204" charset="0"/>
                  <a:cs typeface="Calibri" panose="020F0502020204030204" charset="0"/>
                  <a:sym typeface="+mn-ea"/>
                </a:endParaRPr>
              </a:p>
            </p:txBody>
          </p:sp>
        </mc:Choice>
        <mc:Fallback>
          <p:sp>
            <p:nvSpPr>
              <p:cNvPr id="10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5" y="4836795"/>
                <a:ext cx="4572000" cy="21399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 10"/>
          <p:cNvSpPr/>
          <p:nvPr/>
        </p:nvSpPr>
        <p:spPr>
          <a:xfrm>
            <a:off x="3333750" y="969645"/>
            <a:ext cx="509905" cy="101600"/>
          </a:xfrm>
          <a:custGeom>
            <a:avLst/>
            <a:gdLst>
              <a:gd name="connisteX0" fmla="*/ 0 w 509905"/>
              <a:gd name="connsiteY0" fmla="*/ 101666 h 101666"/>
              <a:gd name="connisteX1" fmla="*/ 292735 w 509905"/>
              <a:gd name="connsiteY1" fmla="*/ 66 h 101666"/>
              <a:gd name="connisteX2" fmla="*/ 509905 w 509905"/>
              <a:gd name="connsiteY2" fmla="*/ 88331 h 10166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509905" h="101666">
                <a:moveTo>
                  <a:pt x="0" y="101666"/>
                </a:moveTo>
                <a:cubicBezTo>
                  <a:pt x="53975" y="79441"/>
                  <a:pt x="190500" y="2606"/>
                  <a:pt x="292735" y="66"/>
                </a:cubicBezTo>
                <a:cubicBezTo>
                  <a:pt x="394970" y="-2474"/>
                  <a:pt x="472440" y="68646"/>
                  <a:pt x="509905" y="88331"/>
                </a:cubicBezTo>
              </a:path>
            </a:pathLst>
          </a:custGeom>
          <a:noFill/>
          <a:ln>
            <a:solidFill>
              <a:schemeClr val="accent2">
                <a:lumMod val="25000"/>
              </a:schemeClr>
            </a:solidFill>
            <a:headEnd type="none"/>
            <a:tailEnd type="arrow" w="med" len="me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3851910" y="915035"/>
            <a:ext cx="15767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latin typeface="Calibri" panose="020F0502020204030204" charset="0"/>
                <a:cs typeface="Calibri" panose="020F0502020204030204" charset="0"/>
              </a:rPr>
              <a:t>Monthly Seasonality</a:t>
            </a:r>
            <a:endParaRPr lang="en-US" sz="12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1890;p36"/>
          <p:cNvSpPr txBox="1"/>
          <p:nvPr/>
        </p:nvSpPr>
        <p:spPr>
          <a:xfrm>
            <a:off x="611505" y="267335"/>
            <a:ext cx="6899910" cy="57594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Category A Pricing Forecast Model &amp; Performance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Box 2"/>
              <p:cNvSpPr txBox="1"/>
              <p:nvPr/>
            </p:nvSpPr>
            <p:spPr>
              <a:xfrm>
                <a:off x="251460" y="1064260"/>
                <a:ext cx="384873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b="1">
                    <a:latin typeface="Calibri" panose="020F0502020204030204" charset="0"/>
                    <a:cs typeface="Calibri" panose="020F0502020204030204" charset="0"/>
                  </a:rPr>
                  <a:t>Optimised Model:</a:t>
                </a:r>
                <a:r>
                  <a:rPr lang="en-US"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SARIMAX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12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>
          <p:sp>
            <p:nvSpPr>
              <p:cNvPr id="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1064260"/>
                <a:ext cx="3848735" cy="30670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Brace 1"/>
          <p:cNvSpPr/>
          <p:nvPr/>
        </p:nvSpPr>
        <p:spPr>
          <a:xfrm rot="16200000">
            <a:off x="3369945" y="676275"/>
            <a:ext cx="93980" cy="715645"/>
          </a:xfrm>
          <a:prstGeom prst="rightBrace">
            <a:avLst/>
          </a:prstGeom>
          <a:ln>
            <a:solidFill>
              <a:schemeClr val="accent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2699385" y="694055"/>
            <a:ext cx="14458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>
                <a:latin typeface="Calibri" panose="020F0502020204030204" charset="0"/>
                <a:cs typeface="Calibri" panose="020F0502020204030204" charset="0"/>
              </a:rPr>
              <a:t>No Seasonal Factors</a:t>
            </a:r>
            <a:endParaRPr lang="en-US" sz="12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51460" y="1380490"/>
            <a:ext cx="57981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latin typeface="Calibri" panose="020F0502020204030204" charset="0"/>
                <a:cs typeface="Calibri" panose="020F0502020204030204" charset="0"/>
              </a:rPr>
              <a:t>Model Diagnostic Check: </a:t>
            </a:r>
            <a:r>
              <a:rPr lang="en-US">
                <a:latin typeface="Calibri" panose="020F0502020204030204" charset="0"/>
                <a:cs typeface="Calibri" panose="020F0502020204030204" charset="0"/>
              </a:rPr>
              <a:t>Model Well-specified &amp; Adequate for Forecasting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985" y="1876425"/>
            <a:ext cx="3977640" cy="293179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3025" y="2426970"/>
            <a:ext cx="135509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900">
                <a:latin typeface="Calibri" panose="020F0502020204030204" charset="0"/>
                <a:cs typeface="Calibri" panose="020F0502020204030204" charset="0"/>
              </a:rPr>
              <a:t>1: Random Fluctuations; </a:t>
            </a:r>
            <a:br>
              <a:rPr lang="en-US" sz="900">
                <a:latin typeface="Calibri" panose="020F0502020204030204" charset="0"/>
                <a:cs typeface="Calibri" panose="020F0502020204030204" charset="0"/>
              </a:rPr>
            </a:br>
            <a:r>
              <a:rPr lang="en-US" sz="900">
                <a:latin typeface="Calibri" panose="020F0502020204030204" charset="0"/>
                <a:cs typeface="Calibri" panose="020F0502020204030204" charset="0"/>
              </a:rPr>
              <a:t>No Obvious Trending / Persistence</a:t>
            </a:r>
            <a:endParaRPr lang="en-US" sz="9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95605" y="3892550"/>
            <a:ext cx="100838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r"/>
            <a:r>
              <a:rPr lang="en-US" sz="900">
                <a:latin typeface="Calibri" panose="020F0502020204030204" charset="0"/>
                <a:cs typeface="Calibri" panose="020F0502020204030204" charset="0"/>
              </a:rPr>
              <a:t>4: No Significant Autocorrelations</a:t>
            </a:r>
            <a:endParaRPr lang="en-US" sz="9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2390" y="3173095"/>
            <a:ext cx="133159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r"/>
            <a:r>
              <a:rPr lang="en-US" sz="900">
                <a:latin typeface="Calibri" panose="020F0502020204030204" charset="0"/>
                <a:cs typeface="Calibri" panose="020F0502020204030204" charset="0"/>
              </a:rPr>
              <a:t>2 &amp; 3: Errors Approximately Normal</a:t>
            </a:r>
            <a:endParaRPr lang="en-US" sz="9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619885" y="1808480"/>
            <a:ext cx="270510" cy="245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sz="1000">
                <a:latin typeface="Calibri" panose="020F0502020204030204" charset="0"/>
                <a:cs typeface="Calibri" panose="020F0502020204030204" charset="0"/>
              </a:rPr>
              <a:t>1</a:t>
            </a:r>
            <a:endParaRPr lang="en-US" sz="10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492500" y="1804670"/>
            <a:ext cx="270510" cy="245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sz="1000">
                <a:latin typeface="Calibri" panose="020F0502020204030204" charset="0"/>
                <a:cs typeface="Calibri" panose="020F0502020204030204" charset="0"/>
              </a:rPr>
              <a:t>2</a:t>
            </a:r>
            <a:endParaRPr lang="en-US" sz="10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1619885" y="3316605"/>
            <a:ext cx="270510" cy="245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sz="1000">
                <a:latin typeface="Calibri" panose="020F0502020204030204" charset="0"/>
                <a:cs typeface="Calibri" panose="020F0502020204030204" charset="0"/>
              </a:rPr>
              <a:t>3</a:t>
            </a:r>
            <a:endParaRPr lang="en-US" sz="10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492500" y="3316605"/>
            <a:ext cx="270510" cy="245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sz="1000">
                <a:latin typeface="Calibri" panose="020F0502020204030204" charset="0"/>
                <a:cs typeface="Calibri" panose="020F0502020204030204" charset="0"/>
              </a:rPr>
              <a:t>4</a:t>
            </a:r>
            <a:endParaRPr lang="en-US" sz="10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5580380" y="1779270"/>
            <a:ext cx="26809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latin typeface="Calibri" panose="020F0502020204030204" charset="0"/>
                <a:cs typeface="Calibri" panose="020F0502020204030204" charset="0"/>
              </a:rPr>
              <a:t>Model Predictions Performance: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745" y="2208530"/>
            <a:ext cx="3384550" cy="1806575"/>
          </a:xfrm>
          <a:prstGeom prst="rect">
            <a:avLst/>
          </a:prstGeom>
        </p:spPr>
      </p:pic>
      <p:sp>
        <p:nvSpPr>
          <p:cNvPr id="22" name="Text Box 21"/>
          <p:cNvSpPr txBox="1"/>
          <p:nvPr/>
        </p:nvSpPr>
        <p:spPr>
          <a:xfrm>
            <a:off x="5652135" y="4083685"/>
            <a:ext cx="33832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latin typeface="Calibri" panose="020F0502020204030204" charset="0"/>
                <a:cs typeface="Calibri" panose="020F0502020204030204" charset="0"/>
              </a:rPr>
              <a:t>RMSE:</a:t>
            </a:r>
            <a:r>
              <a:rPr lang="en-US" sz="1200">
                <a:latin typeface="Calibri" panose="020F0502020204030204" charset="0"/>
                <a:cs typeface="Calibri" panose="020F0502020204030204" charset="0"/>
              </a:rPr>
              <a:t> 4,806 SGD</a:t>
            </a:r>
            <a:endParaRPr lang="en-US" sz="12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1200" b="1">
                <a:latin typeface="Calibri" panose="020F0502020204030204" charset="0"/>
                <a:cs typeface="Calibri" panose="020F0502020204030204" charset="0"/>
              </a:rPr>
              <a:t>MAE:</a:t>
            </a:r>
            <a:r>
              <a:rPr lang="en-US" sz="1200">
                <a:latin typeface="Calibri" panose="020F0502020204030204" charset="0"/>
                <a:cs typeface="Calibri" panose="020F0502020204030204" charset="0"/>
              </a:rPr>
              <a:t> 3,397 SGD</a:t>
            </a:r>
            <a:endParaRPr lang="en-US" sz="12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1200" b="1">
                <a:latin typeface="Calibri" panose="020F0502020204030204" charset="0"/>
                <a:cs typeface="Calibri" panose="020F0502020204030204" charset="0"/>
              </a:rPr>
              <a:t>MAPE:</a:t>
            </a:r>
            <a:r>
              <a:rPr lang="en-US" sz="12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sz="1200" u="sng">
                <a:latin typeface="Calibri" panose="020F0502020204030204" charset="0"/>
                <a:cs typeface="Calibri" panose="020F0502020204030204" charset="0"/>
              </a:rPr>
              <a:t>4 %</a:t>
            </a:r>
            <a:r>
              <a:rPr lang="en-US" sz="1200">
                <a:latin typeface="Calibri" panose="020F0502020204030204" charset="0"/>
                <a:cs typeface="Calibri" panose="020F0502020204030204" charset="0"/>
              </a:rPr>
              <a:t> (predictions within 4% of actual prices)</a:t>
            </a:r>
            <a:endParaRPr lang="en-US" sz="12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5890" y="1876425"/>
            <a:ext cx="3975938" cy="2930400"/>
          </a:xfrm>
          <a:prstGeom prst="rect">
            <a:avLst/>
          </a:prstGeom>
        </p:spPr>
      </p:pic>
      <p:sp>
        <p:nvSpPr>
          <p:cNvPr id="28" name="Google Shape;1890;p36"/>
          <p:cNvSpPr txBox="1"/>
          <p:nvPr/>
        </p:nvSpPr>
        <p:spPr>
          <a:xfrm>
            <a:off x="611505" y="267335"/>
            <a:ext cx="6899910" cy="57594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Category B Pricing Forecast Model &amp; Performance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Box 2"/>
              <p:cNvSpPr txBox="1"/>
              <p:nvPr/>
            </p:nvSpPr>
            <p:spPr>
              <a:xfrm>
                <a:off x="251460" y="1064260"/>
                <a:ext cx="384873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b="1">
                    <a:latin typeface="Calibri" panose="020F0502020204030204" charset="0"/>
                    <a:cs typeface="Calibri" panose="020F0502020204030204" charset="0"/>
                  </a:rPr>
                  <a:t>Optimised Model:</a:t>
                </a:r>
                <a:r>
                  <a:rPr lang="en-US"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SARIMAX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12</m:t>
                    </m:r>
                    <m:r>
                      <a:rPr lang="en-US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>
          <p:sp>
            <p:nvSpPr>
              <p:cNvPr id="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1064260"/>
                <a:ext cx="3848735" cy="30670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Brace 1"/>
          <p:cNvSpPr/>
          <p:nvPr/>
        </p:nvSpPr>
        <p:spPr>
          <a:xfrm rot="16200000">
            <a:off x="3369945" y="676275"/>
            <a:ext cx="93980" cy="715645"/>
          </a:xfrm>
          <a:prstGeom prst="rightBrace">
            <a:avLst/>
          </a:prstGeom>
          <a:ln>
            <a:solidFill>
              <a:schemeClr val="accent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2699385" y="694055"/>
            <a:ext cx="14458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>
                <a:latin typeface="Calibri" panose="020F0502020204030204" charset="0"/>
                <a:cs typeface="Calibri" panose="020F0502020204030204" charset="0"/>
              </a:rPr>
              <a:t>No Seasonal Factors</a:t>
            </a:r>
            <a:endParaRPr lang="en-US" sz="12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51460" y="1380490"/>
            <a:ext cx="842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latin typeface="Calibri" panose="020F0502020204030204" charset="0"/>
                <a:cs typeface="Calibri" panose="020F0502020204030204" charset="0"/>
              </a:rPr>
              <a:t>Model Diagnostic Check: </a:t>
            </a:r>
            <a:r>
              <a:rPr lang="en-US">
                <a:latin typeface="Calibri" panose="020F0502020204030204" charset="0"/>
                <a:cs typeface="Calibri" panose="020F0502020204030204" charset="0"/>
              </a:rPr>
              <a:t>Model Well-specified &amp; </a:t>
            </a:r>
            <a:r>
              <a:rPr lang="en-US">
                <a:latin typeface="Calibri" panose="020F0502020204030204" charset="0"/>
                <a:cs typeface="Calibri" panose="020F0502020204030204" charset="0"/>
                <a:sym typeface="+mn-ea"/>
              </a:rPr>
              <a:t>Adequate </a:t>
            </a:r>
            <a:r>
              <a:rPr lang="en-US">
                <a:latin typeface="Calibri" panose="020F0502020204030204" charset="0"/>
                <a:cs typeface="Calibri" panose="020F0502020204030204" charset="0"/>
              </a:rPr>
              <a:t>for Forecasting (Same Conclusion as Cat A Model)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3025" y="2426970"/>
            <a:ext cx="135509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900">
                <a:latin typeface="Calibri" panose="020F0502020204030204" charset="0"/>
                <a:cs typeface="Calibri" panose="020F0502020204030204" charset="0"/>
              </a:rPr>
              <a:t>1: Random Fluctuations; </a:t>
            </a:r>
            <a:br>
              <a:rPr lang="en-US" sz="900">
                <a:latin typeface="Calibri" panose="020F0502020204030204" charset="0"/>
                <a:cs typeface="Calibri" panose="020F0502020204030204" charset="0"/>
              </a:rPr>
            </a:br>
            <a:r>
              <a:rPr lang="en-US" sz="900">
                <a:latin typeface="Calibri" panose="020F0502020204030204" charset="0"/>
                <a:cs typeface="Calibri" panose="020F0502020204030204" charset="0"/>
              </a:rPr>
              <a:t>No Obvious Trending / Persistence</a:t>
            </a:r>
            <a:endParaRPr lang="en-US" sz="9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95605" y="3892550"/>
            <a:ext cx="100838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r"/>
            <a:r>
              <a:rPr lang="en-US" sz="900">
                <a:latin typeface="Calibri" panose="020F0502020204030204" charset="0"/>
                <a:cs typeface="Calibri" panose="020F0502020204030204" charset="0"/>
              </a:rPr>
              <a:t>4: No Significant Autocorrelations</a:t>
            </a:r>
            <a:endParaRPr lang="en-US" sz="9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2390" y="3173095"/>
            <a:ext cx="133159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r"/>
            <a:r>
              <a:rPr lang="en-US" sz="900">
                <a:latin typeface="Calibri" panose="020F0502020204030204" charset="0"/>
                <a:cs typeface="Calibri" panose="020F0502020204030204" charset="0"/>
              </a:rPr>
              <a:t>2 &amp; 3: Errors Approximately Normal</a:t>
            </a:r>
            <a:endParaRPr lang="en-US" sz="9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619885" y="1808480"/>
            <a:ext cx="270510" cy="245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sz="1000">
                <a:latin typeface="Calibri" panose="020F0502020204030204" charset="0"/>
                <a:cs typeface="Calibri" panose="020F0502020204030204" charset="0"/>
              </a:rPr>
              <a:t>1</a:t>
            </a:r>
            <a:endParaRPr lang="en-US" sz="10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492500" y="1804670"/>
            <a:ext cx="270510" cy="245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sz="1000">
                <a:latin typeface="Calibri" panose="020F0502020204030204" charset="0"/>
                <a:cs typeface="Calibri" panose="020F0502020204030204" charset="0"/>
              </a:rPr>
              <a:t>2</a:t>
            </a:r>
            <a:endParaRPr lang="en-US" sz="10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1619885" y="3316605"/>
            <a:ext cx="270510" cy="245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sz="1000">
                <a:latin typeface="Calibri" panose="020F0502020204030204" charset="0"/>
                <a:cs typeface="Calibri" panose="020F0502020204030204" charset="0"/>
              </a:rPr>
              <a:t>3</a:t>
            </a:r>
            <a:endParaRPr lang="en-US" sz="10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492500" y="3316605"/>
            <a:ext cx="270510" cy="245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sz="1000">
                <a:latin typeface="Calibri" panose="020F0502020204030204" charset="0"/>
                <a:cs typeface="Calibri" panose="020F0502020204030204" charset="0"/>
              </a:rPr>
              <a:t>4</a:t>
            </a:r>
            <a:endParaRPr lang="en-US" sz="10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5580380" y="1779270"/>
            <a:ext cx="26809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latin typeface="Calibri" panose="020F0502020204030204" charset="0"/>
                <a:cs typeface="Calibri" panose="020F0502020204030204" charset="0"/>
              </a:rPr>
              <a:t>Model Predictions Performance: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5652135" y="4083685"/>
            <a:ext cx="33832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latin typeface="Calibri" panose="020F0502020204030204" charset="0"/>
                <a:cs typeface="Calibri" panose="020F0502020204030204" charset="0"/>
              </a:rPr>
              <a:t>RMSE:</a:t>
            </a:r>
            <a:r>
              <a:rPr lang="en-US" sz="1200">
                <a:latin typeface="Calibri" panose="020F0502020204030204" charset="0"/>
                <a:cs typeface="Calibri" panose="020F0502020204030204" charset="0"/>
              </a:rPr>
              <a:t> 7,388 SGD</a:t>
            </a:r>
            <a:endParaRPr lang="en-US" sz="12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1200" b="1">
                <a:latin typeface="Calibri" panose="020F0502020204030204" charset="0"/>
                <a:cs typeface="Calibri" panose="020F0502020204030204" charset="0"/>
              </a:rPr>
              <a:t>MAE:</a:t>
            </a:r>
            <a:r>
              <a:rPr lang="en-US" sz="1200">
                <a:latin typeface="Calibri" panose="020F0502020204030204" charset="0"/>
                <a:cs typeface="Calibri" panose="020F0502020204030204" charset="0"/>
              </a:rPr>
              <a:t> 4,606 SGD</a:t>
            </a:r>
            <a:endParaRPr lang="en-US" sz="12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1200" b="1">
                <a:latin typeface="Calibri" panose="020F0502020204030204" charset="0"/>
                <a:cs typeface="Calibri" panose="020F0502020204030204" charset="0"/>
              </a:rPr>
              <a:t>MAPE:</a:t>
            </a:r>
            <a:r>
              <a:rPr lang="en-US" sz="12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sz="1200" u="sng">
                <a:latin typeface="Calibri" panose="020F0502020204030204" charset="0"/>
                <a:cs typeface="Calibri" panose="020F0502020204030204" charset="0"/>
              </a:rPr>
              <a:t>4 %</a:t>
            </a:r>
            <a:r>
              <a:rPr lang="en-US" sz="1200">
                <a:latin typeface="Calibri" panose="020F0502020204030204" charset="0"/>
                <a:cs typeface="Calibri" panose="020F0502020204030204" charset="0"/>
              </a:rPr>
              <a:t> (predictions within 4% of actual prices)</a:t>
            </a:r>
            <a:endParaRPr lang="en-US" sz="120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380" y="2207260"/>
            <a:ext cx="3386569" cy="180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1890;p36"/>
          <p:cNvSpPr txBox="1"/>
          <p:nvPr/>
        </p:nvSpPr>
        <p:spPr>
          <a:xfrm>
            <a:off x="611505" y="267335"/>
            <a:ext cx="6899910" cy="57594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Price Elasticity of COE Quotas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Box 1"/>
              <p:cNvSpPr txBox="1"/>
              <p:nvPr/>
            </p:nvSpPr>
            <p:spPr>
              <a:xfrm>
                <a:off x="1187704" y="843534"/>
                <a:ext cx="6332855" cy="31559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:r>
                  <a:rPr lang="en-US">
                    <a:latin typeface="Cambria Math" panose="02040503050406030204" charset="0"/>
                    <a:cs typeface="Cambria Math" panose="02040503050406030204" charset="0"/>
                  </a:rPr>
                  <a:t>General Model Equation: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𝑙𝑛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𝑙𝑛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)+</m:t>
                    </m:r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𝑙𝑛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)+...+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𝐴𝑅𝑀𝐴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𝑡𝑒𝑟𝑚𝑠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ext 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704" y="843534"/>
                <a:ext cx="6332855" cy="315595"/>
              </a:xfrm>
              <a:prstGeom prst="rect">
                <a:avLst/>
              </a:prstGeom>
              <a:blipFill rotWithShape="1">
                <a:blip r:embed="rId1"/>
                <a:stretch>
                  <a:fillRect l="-4" t="-80" r="4" b="8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/>
              <p:nvPr>
                <p:custDataLst>
                  <p:tags r:id="rId2"/>
                </p:custDataLst>
              </p:nvPr>
            </p:nvGraphicFramePr>
            <p:xfrm>
              <a:off x="972185" y="1354455"/>
              <a:ext cx="4068445" cy="1676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7915"/>
                    <a:gridCol w="1365250"/>
                    <a:gridCol w="1605280"/>
                  </a:tblGrid>
                  <a:tr h="3048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  <a:latin typeface="Calibri" panose="020F0502020204030204" charset="0"/>
                              <a:cs typeface="Calibri" panose="020F0502020204030204" charset="0"/>
                            </a:rPr>
                            <a:t>Exogenous Parameters</a:t>
                          </a:r>
                          <a:endParaRPr lang="en-US" sz="1200">
                            <a:solidFill>
                              <a:schemeClr val="tx1"/>
                            </a:solidFill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  <a:latin typeface="Calibri" panose="020F0502020204030204" charset="0"/>
                              <a:cs typeface="Calibri" panose="020F0502020204030204" charset="0"/>
                            </a:rPr>
                            <a:t>Weight Value</a:t>
                          </a:r>
                          <a:endParaRPr lang="en-US" sz="1200">
                            <a:solidFill>
                              <a:schemeClr val="tx1"/>
                            </a:solidFill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  <a:p>
                          <a:pPr algn="ctr">
                            <a:buNone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  <a:latin typeface="Calibri" panose="020F0502020204030204" charset="0"/>
                              <a:cs typeface="Calibri" panose="020F0502020204030204" charset="0"/>
                            </a:rPr>
                            <a:t>(A / B)</a:t>
                          </a:r>
                          <a:endParaRPr lang="en-US" sz="1200">
                            <a:solidFill>
                              <a:schemeClr val="tx1"/>
                            </a:solidFill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  <a:latin typeface="Calibri" panose="020F0502020204030204" charset="0"/>
                              <a:cs typeface="Calibri" panose="020F0502020204030204" charset="0"/>
                            </a:rPr>
                            <a:t>Statistical Significance</a:t>
                          </a:r>
                          <a:endParaRPr lang="en-US" sz="1200">
                            <a:solidFill>
                              <a:schemeClr val="tx1"/>
                            </a:solidFill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  <a:p>
                          <a:pPr algn="ctr">
                            <a:buNone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  <a:latin typeface="Calibri" panose="020F0502020204030204" charset="0"/>
                              <a:cs typeface="Calibri" panose="020F0502020204030204" charset="0"/>
                            </a:rPr>
                            <a:t>(A / B)</a:t>
                          </a:r>
                          <a:endParaRPr lang="en-US" sz="1200">
                            <a:solidFill>
                              <a:schemeClr val="tx1"/>
                            </a:solidFill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</a:tr>
                  <a:tr h="304800"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𝑙𝑛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latin typeface="Calibri" panose="020F0502020204030204" charset="0"/>
                              <a:cs typeface="Calibri" panose="020F0502020204030204" charset="0"/>
                            </a:rPr>
                            <a:t>0.00442 / 0.00495</a:t>
                          </a:r>
                          <a:endParaRPr lang="en-US" sz="1200"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latin typeface="Calibri" panose="020F0502020204030204" charset="0"/>
                              <a:cs typeface="Calibri" panose="020F0502020204030204" charset="0"/>
                            </a:rPr>
                            <a:t>No / No</a:t>
                          </a:r>
                          <a:endParaRPr lang="en-US" sz="1200"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</a:tr>
                  <a:tr h="304800"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𝑙𝑛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latin typeface="Calibri" panose="020F0502020204030204" charset="0"/>
                              <a:cs typeface="Calibri" panose="020F0502020204030204" charset="0"/>
                            </a:rPr>
                            <a:t>0.201 /0.237</a:t>
                          </a:r>
                          <a:endParaRPr lang="en-US" sz="1200"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latin typeface="Calibri" panose="020F0502020204030204" charset="0"/>
                              <a:cs typeface="Calibri" panose="020F0502020204030204" charset="0"/>
                            </a:rPr>
                            <a:t>Yes / Yes</a:t>
                          </a:r>
                          <a:endParaRPr lang="en-US" sz="1200"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</a:tr>
                  <a:tr h="304800"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𝑙𝑛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𝑡</m:t>
                                    </m:r>
                                    <m:r>
                                      <a:rPr lang="en-US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−</m:t>
                                    </m:r>
                                    <m:r>
                                      <a:rPr lang="en-US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latin typeface="Calibri" panose="020F0502020204030204" charset="0"/>
                              <a:cs typeface="Calibri" panose="020F0502020204030204" charset="0"/>
                            </a:rPr>
                            <a:t>0.995 / 0.992</a:t>
                          </a:r>
                          <a:endParaRPr lang="en-US" sz="1200"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latin typeface="Calibri" panose="020F0502020204030204" charset="0"/>
                              <a:cs typeface="Calibri" panose="020F0502020204030204" charset="0"/>
                            </a:rPr>
                            <a:t>Yes / Yes</a:t>
                          </a:r>
                          <a:endParaRPr lang="en-US" sz="1200"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</a:tr>
                  <a:tr h="304800"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𝑙𝑛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𝑡</m:t>
                                    </m:r>
                                    <m:r>
                                      <a:rPr lang="en-US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−</m:t>
                                    </m:r>
                                    <m:r>
                                      <a:rPr lang="en-US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latin typeface="Calibri" panose="020F0502020204030204" charset="0"/>
                              <a:cs typeface="Calibri" panose="020F0502020204030204" charset="0"/>
                            </a:rPr>
                            <a:t>- 0.133 / - 0.0795</a:t>
                          </a:r>
                          <a:endParaRPr lang="en-US" sz="1200"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latin typeface="Calibri" panose="020F0502020204030204" charset="0"/>
                              <a:cs typeface="Calibri" panose="020F0502020204030204" charset="0"/>
                            </a:rPr>
                            <a:t>Yes / Yes</a:t>
                          </a:r>
                          <a:endParaRPr lang="en-US" sz="1200"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/>
              <p:nvPr>
                <p:custDataLst>
                  <p:tags r:id="rId3"/>
                </p:custDataLst>
              </p:nvPr>
            </p:nvGraphicFramePr>
            <p:xfrm>
              <a:off x="972185" y="1354455"/>
              <a:ext cx="4068445" cy="1676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7915"/>
                    <a:gridCol w="1365250"/>
                    <a:gridCol w="1605280"/>
                  </a:tblGrid>
                  <a:tr h="3048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  <a:latin typeface="Calibri" panose="020F0502020204030204" charset="0"/>
                              <a:cs typeface="Calibri" panose="020F0502020204030204" charset="0"/>
                            </a:rPr>
                            <a:t>Exogenous Parameters</a:t>
                          </a:r>
                          <a:endParaRPr lang="en-US" sz="1200">
                            <a:solidFill>
                              <a:schemeClr val="tx1"/>
                            </a:solidFill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  <a:latin typeface="Calibri" panose="020F0502020204030204" charset="0"/>
                              <a:cs typeface="Calibri" panose="020F0502020204030204" charset="0"/>
                            </a:rPr>
                            <a:t>Weight Value</a:t>
                          </a:r>
                          <a:endParaRPr lang="en-US" sz="1200">
                            <a:solidFill>
                              <a:schemeClr val="tx1"/>
                            </a:solidFill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  <a:p>
                          <a:pPr algn="ctr">
                            <a:buNone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  <a:latin typeface="Calibri" panose="020F0502020204030204" charset="0"/>
                              <a:cs typeface="Calibri" panose="020F0502020204030204" charset="0"/>
                            </a:rPr>
                            <a:t>(A / B)</a:t>
                          </a:r>
                          <a:endParaRPr lang="en-US" sz="1200">
                            <a:solidFill>
                              <a:schemeClr val="tx1"/>
                            </a:solidFill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  <a:latin typeface="Calibri" panose="020F0502020204030204" charset="0"/>
                              <a:cs typeface="Calibri" panose="020F0502020204030204" charset="0"/>
                            </a:rPr>
                            <a:t>Statistical Significance</a:t>
                          </a:r>
                          <a:endParaRPr lang="en-US" sz="1200">
                            <a:solidFill>
                              <a:schemeClr val="tx1"/>
                            </a:solidFill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  <a:p>
                          <a:pPr algn="ctr">
                            <a:buNone/>
                          </a:pPr>
                          <a:r>
                            <a:rPr lang="en-US" sz="1200">
                              <a:solidFill>
                                <a:schemeClr val="tx1"/>
                              </a:solidFill>
                              <a:latin typeface="Calibri" panose="020F0502020204030204" charset="0"/>
                              <a:cs typeface="Calibri" panose="020F0502020204030204" charset="0"/>
                            </a:rPr>
                            <a:t>(A / B)</a:t>
                          </a:r>
                          <a:endParaRPr lang="en-US" sz="1200">
                            <a:solidFill>
                              <a:schemeClr val="tx1"/>
                            </a:solidFill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0"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latin typeface="Calibri" panose="020F0502020204030204" charset="0"/>
                              <a:cs typeface="Calibri" panose="020F0502020204030204" charset="0"/>
                            </a:rPr>
                            <a:t>0.00442 / 0.00495</a:t>
                          </a:r>
                          <a:endParaRPr lang="en-US" sz="1200"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latin typeface="Calibri" panose="020F0502020204030204" charset="0"/>
                              <a:cs typeface="Calibri" panose="020F0502020204030204" charset="0"/>
                            </a:rPr>
                            <a:t>No / No</a:t>
                          </a:r>
                          <a:endParaRPr lang="en-US" sz="1200"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0"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latin typeface="Calibri" panose="020F0502020204030204" charset="0"/>
                              <a:cs typeface="Calibri" panose="020F0502020204030204" charset="0"/>
                            </a:rPr>
                            <a:t>0.201 /0.237</a:t>
                          </a:r>
                          <a:endParaRPr lang="en-US" sz="1200"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latin typeface="Calibri" panose="020F0502020204030204" charset="0"/>
                              <a:cs typeface="Calibri" panose="020F0502020204030204" charset="0"/>
                            </a:rPr>
                            <a:t>Yes / Yes</a:t>
                          </a:r>
                          <a:endParaRPr lang="en-US" sz="1200"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0"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latin typeface="Calibri" panose="020F0502020204030204" charset="0"/>
                              <a:cs typeface="Calibri" panose="020F0502020204030204" charset="0"/>
                            </a:rPr>
                            <a:t>0.995 / 0.992</a:t>
                          </a:r>
                          <a:endParaRPr lang="en-US" sz="1200"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latin typeface="Calibri" panose="020F0502020204030204" charset="0"/>
                              <a:cs typeface="Calibri" panose="020F0502020204030204" charset="0"/>
                            </a:rPr>
                            <a:t>Yes / Yes</a:t>
                          </a:r>
                          <a:endParaRPr lang="en-US" sz="1200"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0"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latin typeface="Calibri" panose="020F0502020204030204" charset="0"/>
                              <a:cs typeface="Calibri" panose="020F0502020204030204" charset="0"/>
                            </a:rPr>
                            <a:t>- 0.133 / - 0.0795</a:t>
                          </a:r>
                          <a:endParaRPr lang="en-US" sz="1200"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200">
                              <a:latin typeface="Calibri" panose="020F0502020204030204" charset="0"/>
                              <a:cs typeface="Calibri" panose="020F0502020204030204" charset="0"/>
                            </a:rPr>
                            <a:t>Yes / Yes</a:t>
                          </a:r>
                          <a:endParaRPr lang="en-US" sz="1200">
                            <a:latin typeface="Calibri" panose="020F0502020204030204" charset="0"/>
                            <a:cs typeface="Calibri" panose="020F0502020204030204" charset="0"/>
                          </a:endParaRPr>
                        </a:p>
                      </a:txBody>
                      <a:tcPr anchor="ctr" anchorCtr="0"/>
                    </a:tc>
                  </a:tr>
                </a:tbl>
              </a:graphicData>
            </a:graphic>
          </p:graphicFrame>
        </mc:Fallback>
      </mc:AlternateContent>
      <p:cxnSp>
        <p:nvCxnSpPr>
          <p:cNvPr id="9" name="Straight Arrow Connector 8"/>
          <p:cNvCxnSpPr/>
          <p:nvPr>
            <p:custDataLst>
              <p:tags r:id="rId5"/>
            </p:custDataLst>
          </p:nvPr>
        </p:nvCxnSpPr>
        <p:spPr>
          <a:xfrm>
            <a:off x="5120640" y="2559050"/>
            <a:ext cx="315595" cy="0"/>
          </a:xfrm>
          <a:prstGeom prst="straightConnector1">
            <a:avLst/>
          </a:prstGeom>
          <a:ln>
            <a:solidFill>
              <a:schemeClr val="accent2">
                <a:lumMod val="25000"/>
              </a:schemeClr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Text Box 9"/>
          <p:cNvSpPr txBox="1"/>
          <p:nvPr>
            <p:custDataLst>
              <p:tags r:id="rId6"/>
            </p:custDataLst>
          </p:nvPr>
        </p:nvSpPr>
        <p:spPr>
          <a:xfrm>
            <a:off x="5516245" y="2328545"/>
            <a:ext cx="34950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latin typeface="Calibri" panose="020F0502020204030204" charset="0"/>
                <a:cs typeface="Calibri" panose="020F0502020204030204" charset="0"/>
              </a:rPr>
              <a:t>Interpretation: </a:t>
            </a:r>
            <a:r>
              <a:rPr lang="en-US" altLang="en-US" sz="1200">
                <a:latin typeface="Calibri" panose="020F0502020204030204" charset="0"/>
                <a:cs typeface="Calibri" panose="020F0502020204030204" charset="0"/>
              </a:rPr>
              <a:t>COE prices exhibit  strong persistence from previous auction outcomes.</a:t>
            </a:r>
            <a:endParaRPr lang="en-US" altLang="en-US" sz="120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11" name="Straight Arrow Connector 10"/>
          <p:cNvCxnSpPr/>
          <p:nvPr>
            <p:custDataLst>
              <p:tags r:id="rId7"/>
            </p:custDataLst>
          </p:nvPr>
        </p:nvCxnSpPr>
        <p:spPr>
          <a:xfrm>
            <a:off x="5120640" y="1923415"/>
            <a:ext cx="315595" cy="0"/>
          </a:xfrm>
          <a:prstGeom prst="straightConnector1">
            <a:avLst/>
          </a:prstGeom>
          <a:ln>
            <a:solidFill>
              <a:schemeClr val="accent2">
                <a:lumMod val="25000"/>
              </a:schemeClr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Text Box 11"/>
          <p:cNvSpPr txBox="1"/>
          <p:nvPr>
            <p:custDataLst>
              <p:tags r:id="rId8"/>
            </p:custDataLst>
          </p:nvPr>
        </p:nvSpPr>
        <p:spPr>
          <a:xfrm>
            <a:off x="5516245" y="1635760"/>
            <a:ext cx="33661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latin typeface="Calibri" panose="020F0502020204030204" charset="0"/>
                <a:cs typeface="Calibri" panose="020F0502020204030204" charset="0"/>
              </a:rPr>
              <a:t>Interpretation: </a:t>
            </a:r>
            <a:r>
              <a:rPr lang="en-US" sz="1200">
                <a:latin typeface="Calibri" panose="020F0502020204030204" charset="0"/>
                <a:cs typeface="Calibri" panose="020F0502020204030204" charset="0"/>
              </a:rPr>
              <a:t>The short-run sensitivity of COE prices to marginal quota changes is very small (approx. zero).</a:t>
            </a:r>
            <a:endParaRPr lang="en-US" sz="12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71550" y="3363595"/>
            <a:ext cx="7763510" cy="12712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eaLnBrk="1" fontAlgn="auto" latinLnBrk="0" hangingPunct="1">
              <a:spcAft>
                <a:spcPts val="400"/>
              </a:spcAft>
            </a:pPr>
            <a:r>
              <a:rPr lang="en-US" b="1">
                <a:latin typeface="Calibri" panose="020F0502020204030204" charset="0"/>
                <a:cs typeface="Calibri" panose="020F0502020204030204" charset="0"/>
              </a:rPr>
              <a:t>Price Elasticity of COE Quotas: </a:t>
            </a:r>
            <a:endParaRPr lang="en-US" b="1"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 eaLnBrk="1" fontAlgn="auto" latinLnBrk="0" hangingPunct="1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lang="en-US" b="1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u="sng"/>
              <a:t>1%</a:t>
            </a:r>
            <a:r>
              <a:rPr lang="en-US"/>
              <a:t> increase in quota is associated with about only </a:t>
            </a:r>
            <a:r>
              <a:rPr lang="en-US" u="sng"/>
              <a:t>0.004%</a:t>
            </a:r>
            <a:r>
              <a:rPr lang="en-US"/>
              <a:t> increase in premiums (for both Cat A and Cat B) 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other words, with 1,100 existing quotas for Cat A, adding 200 quotas (18%) would raise premiums by 0.07%, from 18,500 SGD to 18,513 SGD (i.e., tens of dollars increase)</a:t>
            </a:r>
            <a:endParaRPr lang="en-US"/>
          </a:p>
        </p:txBody>
      </p:sp>
      <p:sp>
        <p:nvSpPr>
          <p:cNvPr id="3" name="Text Box 2"/>
          <p:cNvSpPr txBox="1"/>
          <p:nvPr>
            <p:custDataLst>
              <p:tags r:id="rId9"/>
            </p:custDataLst>
          </p:nvPr>
        </p:nvSpPr>
        <p:spPr>
          <a:xfrm>
            <a:off x="2484120" y="633730"/>
            <a:ext cx="7791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>
                <a:latin typeface="Calibri" panose="020F0502020204030204" charset="0"/>
                <a:cs typeface="Calibri" panose="020F0502020204030204" charset="0"/>
              </a:rPr>
              <a:t>COE Price</a:t>
            </a:r>
            <a:endParaRPr lang="en-US" sz="10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Text Box 3"/>
          <p:cNvSpPr txBox="1"/>
          <p:nvPr>
            <p:custDataLst>
              <p:tags r:id="rId10"/>
            </p:custDataLst>
          </p:nvPr>
        </p:nvSpPr>
        <p:spPr>
          <a:xfrm>
            <a:off x="4170680" y="353060"/>
            <a:ext cx="5168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>
                <a:latin typeface="Calibri" panose="020F0502020204030204" charset="0"/>
                <a:cs typeface="Calibri" panose="020F0502020204030204" charset="0"/>
              </a:rPr>
              <a:t>Quota</a:t>
            </a:r>
            <a:endParaRPr lang="en-US" sz="100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4427855" y="669290"/>
            <a:ext cx="1905" cy="173990"/>
          </a:xfrm>
          <a:prstGeom prst="straightConnector1">
            <a:avLst/>
          </a:prstGeom>
          <a:ln>
            <a:solidFill>
              <a:schemeClr val="accent2">
                <a:lumMod val="2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 flipV="1">
            <a:off x="5277485" y="669290"/>
            <a:ext cx="1905" cy="173990"/>
          </a:xfrm>
          <a:prstGeom prst="straightConnector1">
            <a:avLst/>
          </a:prstGeom>
          <a:ln>
            <a:solidFill>
              <a:schemeClr val="accent2">
                <a:lumMod val="2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>
            <p:custDataLst>
              <p:tags r:id="rId11"/>
            </p:custDataLst>
          </p:nvPr>
        </p:nvSpPr>
        <p:spPr>
          <a:xfrm>
            <a:off x="4716145" y="276225"/>
            <a:ext cx="10731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>
                <a:latin typeface="Calibri" panose="020F0502020204030204" charset="0"/>
                <a:cs typeface="Calibri" panose="020F0502020204030204" charset="0"/>
              </a:rPr>
              <a:t>Oversubscription Rate</a:t>
            </a:r>
            <a:endParaRPr lang="en-US" sz="10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3204210" y="757555"/>
            <a:ext cx="301625" cy="85725"/>
          </a:xfrm>
          <a:custGeom>
            <a:avLst/>
            <a:gdLst>
              <a:gd name="connisteX0" fmla="*/ 301625 w 301625"/>
              <a:gd name="connsiteY0" fmla="*/ 85904 h 85904"/>
              <a:gd name="connisteX1" fmla="*/ 165100 w 301625"/>
              <a:gd name="connsiteY1" fmla="*/ 6529 h 85904"/>
              <a:gd name="connisteX2" fmla="*/ 0 w 301625"/>
              <a:gd name="connsiteY2" fmla="*/ 9704 h 859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01625" h="85904">
                <a:moveTo>
                  <a:pt x="301625" y="85904"/>
                </a:moveTo>
                <a:cubicBezTo>
                  <a:pt x="277495" y="70029"/>
                  <a:pt x="225425" y="21769"/>
                  <a:pt x="165100" y="6529"/>
                </a:cubicBezTo>
                <a:cubicBezTo>
                  <a:pt x="104775" y="-8711"/>
                  <a:pt x="30480" y="7164"/>
                  <a:pt x="0" y="9704"/>
                </a:cubicBezTo>
              </a:path>
            </a:pathLst>
          </a:custGeom>
          <a:ln>
            <a:solidFill>
              <a:schemeClr val="accent2">
                <a:lumMod val="2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Google Shape;1890;p36"/>
          <p:cNvSpPr txBox="1"/>
          <p:nvPr/>
        </p:nvSpPr>
        <p:spPr>
          <a:xfrm>
            <a:off x="611505" y="195580"/>
            <a:ext cx="6899910" cy="57594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Study Limitations, Future Considerations &amp; Conclusion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Google Shape;1890;p36"/>
          <p:cNvSpPr txBox="1"/>
          <p:nvPr/>
        </p:nvSpPr>
        <p:spPr>
          <a:xfrm>
            <a:off x="800100" y="1059815"/>
            <a:ext cx="7544435" cy="2514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GB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1. Forecast Accuracy-optimised Model</a:t>
            </a:r>
            <a:endParaRPr lang="en-US" altLang="en-GB" sz="14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The SARIMAX specification prioritises predictive accuracy, resulting in strong price persistence that limits the precision of short-run quota elasticity estimates.</a:t>
            </a:r>
            <a:endParaRPr lang="en-US" altLang="en-US" sz="1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2. Model-implied Elasticity</a:t>
            </a:r>
            <a:endParaRPr lang="en-US" altLang="en-US" sz="14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Estimated quota sensitivity reflects historical correlations captured by the model and should be interpreted as policy sensitivity rather than a causal effect.</a:t>
            </a:r>
            <a:endParaRPr lang="en-US" altLang="en-US" sz="1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3. External Policy &amp; Market Shocks</a:t>
            </a:r>
            <a:endParaRPr lang="en-US" altLang="en-US" sz="14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Shifts in market sentiment or policy expectations can cause price spikes that are difficult to predict using historical data alone.</a:t>
            </a:r>
            <a:endParaRPr lang="en-US" altLang="en-US" sz="1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6" name="Google Shape;3009;p53"/>
          <p:cNvSpPr/>
          <p:nvPr/>
        </p:nvSpPr>
        <p:spPr>
          <a:xfrm>
            <a:off x="800100" y="3651885"/>
            <a:ext cx="7543800" cy="86995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Concluding Remarks </a:t>
            </a:r>
            <a:r>
              <a:rPr lang="en-US" altLang="en-US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- COE prices are primarily driven by expectations and price persistence, with marginal quota adjustments having limited short-run effects.</a:t>
            </a:r>
            <a:endParaRPr lang="en-US" altLang="en-US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TABLE_ENDDRAG_ORIGIN_RECT" val="202*188"/>
  <p:tag name="TABLE_ENDDRAG_RECT" val="48*100*202*188"/>
</p:tagLst>
</file>

<file path=ppt/tags/tag6.xml><?xml version="1.0" encoding="utf-8"?>
<p:tagLst xmlns:p="http://schemas.openxmlformats.org/presentationml/2006/main">
  <p:tag name="TABLE_ENDDRAG_ORIGIN_RECT" val="202*188"/>
  <p:tag name="TABLE_ENDDRAG_RECT" val="48*100*202*188"/>
</p:tagLst>
</file>

<file path=ppt/tags/tag7.xml><?xml version="1.0" encoding="utf-8"?>
<p:tagLst xmlns:p="http://schemas.openxmlformats.org/presentationml/2006/main">
  <p:tag name="KSO_WM_DIAGRAM_VIRTUALLY_FRAME" val="{&quot;height&quot;:90.8,&quot;left&quot;:403.2,&quot;top&quot;:128.8,&quot;width&quot;:296.2}"/>
</p:tagLst>
</file>

<file path=ppt/tags/tag8.xml><?xml version="1.0" encoding="utf-8"?>
<p:tagLst xmlns:p="http://schemas.openxmlformats.org/presentationml/2006/main">
  <p:tag name="KSO_WM_DIAGRAM_VIRTUALLY_FRAME" val="{&quot;height&quot;:90.8,&quot;left&quot;:403.2,&quot;top&quot;:128.8,&quot;width&quot;:296.2}"/>
</p:tagLst>
</file>

<file path=ppt/tags/tag9.xml><?xml version="1.0" encoding="utf-8"?>
<p:tagLst xmlns:p="http://schemas.openxmlformats.org/presentationml/2006/main">
  <p:tag name="KSO_WM_DIAGRAM_VIRTUALLY_FRAME" val="{&quot;height&quot;:90.8,&quot;left&quot;:403.2,&quot;top&quot;:128.8,&quot;width&quot;:296.2}"/>
</p:tagLst>
</file>

<file path=ppt/tags/tag10.xml><?xml version="1.0" encoding="utf-8"?>
<p:tagLst xmlns:p="http://schemas.openxmlformats.org/presentationml/2006/main">
  <p:tag name="KSO_WM_DIAGRAM_VIRTUALLY_FRAME" val="{&quot;height&quot;:90.8,&quot;left&quot;:403.2,&quot;top&quot;:128.8,&quot;width&quot;:296.2}"/>
</p:tagLst>
</file>

<file path=ppt/tags/tag11.xml><?xml version="1.0" encoding="utf-8"?>
<p:tagLst xmlns:p="http://schemas.openxmlformats.org/presentationml/2006/main">
  <p:tag name="KSO_WM_DIAGRAM_VIRTUALLY_FRAME" val="{&quot;height&quot;:90.8,&quot;left&quot;:403.2,&quot;top&quot;:128.8,&quot;width&quot;:296.2}"/>
</p:tagLst>
</file>

<file path=ppt/tags/tag12.xml><?xml version="1.0" encoding="utf-8"?>
<p:tagLst xmlns:p="http://schemas.openxmlformats.org/presentationml/2006/main">
  <p:tag name="KSO_WM_DIAGRAM_VIRTUALLY_FRAME" val="{&quot;height&quot;:90.8,&quot;left&quot;:403.2,&quot;top&quot;:128.8,&quot;width&quot;:296.2}"/>
</p:tagLst>
</file>

<file path=ppt/tags/tag13.xml><?xml version="1.0" encoding="utf-8"?>
<p:tagLst xmlns:p="http://schemas.openxmlformats.org/presentationml/2006/main">
  <p:tag name="KSO_WM_DIAGRAM_VIRTUALLY_FRAME" val="{&quot;height&quot;:90.8,&quot;left&quot;:403.2,&quot;top&quot;:128.8,&quot;width&quot;:296.2}"/>
</p:tagLst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4771</Words>
  <Application>WPS Presentation</Application>
  <PresentationFormat/>
  <Paragraphs>171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Arial</vt:lpstr>
      <vt:lpstr>Fjalla One</vt:lpstr>
      <vt:lpstr>Barlow Semi Condensed Medium</vt:lpstr>
      <vt:lpstr>Barlow Semi Condensed</vt:lpstr>
      <vt:lpstr>Roboto Condensed Light</vt:lpstr>
      <vt:lpstr>Roboto</vt:lpstr>
      <vt:lpstr>Calibri</vt:lpstr>
      <vt:lpstr>Cambria Math</vt:lpstr>
      <vt:lpstr>Microsoft YaHei</vt:lpstr>
      <vt:lpstr>Arial Unicode MS</vt:lpstr>
      <vt:lpstr>Technology Consulting by Slidesgo</vt:lpstr>
      <vt:lpstr>COE Price Prediction &amp; Elasticity Analysis</vt:lpstr>
      <vt:lpstr> Bottom Line Up Front</vt:lpstr>
      <vt:lpstr>Model Features</vt:lpstr>
      <vt:lpstr>Hyperparameter Tuning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Preschools Supply Planning</dc:title>
  <dc:creator/>
  <cp:lastModifiedBy>Darren Lim</cp:lastModifiedBy>
  <cp:revision>97</cp:revision>
  <dcterms:created xsi:type="dcterms:W3CDTF">2026-01-10T05:38:00Z</dcterms:created>
  <dcterms:modified xsi:type="dcterms:W3CDTF">2026-01-11T08:14:18Z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642E6EE966344ECA9EE9D6E502FB8F8D_12</vt:lpwstr>
  </property>
  <property fmtid="{D5CDD505-2E9C-101B-9397-08002B2CF9AE}" pid="3" name="KSOProductBuildVer">
    <vt:lpwstr>1033-12.2.0.23196</vt:lpwstr>
  </property>
</Properties>
</file>